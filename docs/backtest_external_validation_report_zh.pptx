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685800" y="36576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2800" b="1">
                <a:solidFill>
                  <a:srgbClr val="FFFFFF"/>
                </a:solidFill>
                <a:latin typeface="Aptos"/>
                <a:ea typeface="Microsoft JhengHei"/>
              </a:rPr>
              <a:t>用第三方回測軟體驗證我們的回測結果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13232" y="141732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600">
                <a:solidFill>
                  <a:srgbClr val="111827"/>
                </a:solidFill>
                <a:latin typeface="Aptos"/>
                <a:ea typeface="Microsoft JhengHei"/>
              </a:rPr>
              <a:t>驗證流程、因子拆解，與 vectorbt / backtrader / Nautilus 的分工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13232" y="20116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100">
                <a:solidFill>
                  <a:srgbClr val="4B5563"/>
                </a:solidFill>
                <a:latin typeface="Aptos"/>
                <a:ea typeface="Microsoft JhengHei"/>
              </a:rPr>
              <a:t>Quant Strategy 團隊｜2026-06-23｜內部驗證說明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13232" y="2578608"/>
            <a:ext cx="214884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850" b="1">
                <a:solidFill>
                  <a:srgbClr val="FFFFFF"/>
                </a:solidFill>
                <a:latin typeface="Aptos"/>
                <a:ea typeface="Microsoft JhengHei"/>
              </a:rPr>
              <a:t>目的：交叉驗證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3044952" y="2578608"/>
            <a:ext cx="2148840" cy="25603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850" b="1">
                <a:solidFill>
                  <a:srgbClr val="FFFFFF"/>
                </a:solidFill>
                <a:latin typeface="Aptos"/>
                <a:ea typeface="Microsoft JhengHei"/>
              </a:rPr>
              <a:t>方法：拆成因子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376672" y="2578608"/>
            <a:ext cx="214884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850" b="1">
                <a:solidFill>
                  <a:srgbClr val="FFFFFF"/>
                </a:solidFill>
                <a:latin typeface="Aptos"/>
                <a:ea typeface="Microsoft JhengHei"/>
              </a:rPr>
              <a:t>範圍：驗回測，不是上線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13232" y="3200400"/>
            <a:ext cx="342900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713232" y="3200400"/>
            <a:ext cx="73152" cy="2331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877824" y="3310128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這份簡報講三件事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77824" y="3639312"/>
            <a:ext cx="3154680" cy="18013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為什麼要用外部軟體驗證回測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驗證流程怎麼把結果拆成因子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三套外部工具各自能驗什麼、不能驗什麼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370832" y="3200400"/>
            <a:ext cx="342900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4370832" y="3200400"/>
            <a:ext cx="73152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4535424" y="3310128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一句話結論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4535424" y="3639312"/>
            <a:ext cx="3154680" cy="18013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MA、EMA、MACD 三個策略的進出場訊號，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已用兩套獨立外部工具重算並完全對齊；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資料庫對齊與撮合保真度是下一步。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028431" y="3200400"/>
            <a:ext cx="342900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8028431" y="3200400"/>
            <a:ext cx="73152" cy="2331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8193023" y="3310128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現階段範圍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8193023" y="3639312"/>
            <a:ext cx="3154680" cy="18013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目標是確認「回測結果可信、可重現」，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不是宣稱策略可以上線交易。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上線與否另有獨立的審核流程。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2400" b="1">
                <a:solidFill>
                  <a:srgbClr val="111827"/>
                </a:solidFill>
                <a:latin typeface="Aptos"/>
                <a:ea typeface="Microsoft JhengHei"/>
              </a:rPr>
              <a:t>一頁總覽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7" y="694944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950">
                <a:solidFill>
                  <a:srgbClr val="4B5563"/>
                </a:solidFill>
                <a:latin typeface="Aptos"/>
                <a:ea typeface="Microsoft JhengHei"/>
              </a:rPr>
              <a:t>一張圖看懂我們在做什麼、為什麼做、目前結論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5" name="Shape 5"/>
          <p:cNvSpPr txBox="1"/>
          <p:nvPr/>
        </p:nvSpPr>
        <p:spPr>
          <a:xfrm>
            <a:off x="548640" y="1417320"/>
            <a:ext cx="3520440" cy="2606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6" name="Shape 6"/>
          <p:cNvSpPr txBox="1"/>
          <p:nvPr/>
        </p:nvSpPr>
        <p:spPr>
          <a:xfrm>
            <a:off x="548640" y="1417320"/>
            <a:ext cx="352044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7" name="Shape 7"/>
          <p:cNvSpPr txBox="1"/>
          <p:nvPr/>
        </p:nvSpPr>
        <p:spPr>
          <a:xfrm>
            <a:off x="731520" y="148132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500" b="1">
                <a:solidFill>
                  <a:srgbClr val="FFFFFF"/>
                </a:solidFill>
                <a:latin typeface="Aptos"/>
                <a:ea typeface="Microsoft JhengHei"/>
              </a:rPr>
              <a:t>在做什麼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77240" y="214884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>把我們自己跑出來的回測結果，丟給成熟的第三方回測軟體，用同一批資料重算一遍，看兩邊對不對得上。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4251959" y="1417320"/>
            <a:ext cx="3520440" cy="2606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251959" y="1417320"/>
            <a:ext cx="352044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4434839" y="148132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500" b="1">
                <a:solidFill>
                  <a:srgbClr val="FFFFFF"/>
                </a:solidFill>
                <a:latin typeface="Aptos"/>
                <a:ea typeface="Microsoft JhengHei"/>
              </a:rPr>
              <a:t>為什麼做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4480559" y="214884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>自己寫的引擎自己驗，缺乏客觀第二意見。外部軟體獨立、開源、可重跑，等於請第二位裁判覆核。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955279" y="1417320"/>
            <a:ext cx="3520440" cy="2606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7955279" y="1417320"/>
            <a:ext cx="352044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8138159" y="148132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500" b="1">
                <a:solidFill>
                  <a:srgbClr val="FFFFFF"/>
                </a:solidFill>
                <a:latin typeface="Aptos"/>
                <a:ea typeface="Microsoft JhengHei"/>
              </a:rPr>
              <a:t>目前結論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8183879" y="214884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>訊號層面（進出場點）已交叉驗證一致；成交品質、績效穩健度、資料庫對齊持續補齊中。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594360" y="4526280"/>
            <a:ext cx="10972800" cy="86868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A5B4FC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 b="1">
                <a:solidFill>
                  <a:srgbClr val="111827"/>
                </a:solidFill>
                <a:latin typeface="Aptos"/>
                <a:ea typeface="Microsoft JhengHei"/>
              </a:rPr>
              <a:t>重點：外部驗證不是要證明策略一定賺錢，而是證明「在相同資料、相同參數、相同規則下，計算結果一致、可以重現」。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2400" b="1">
                <a:solidFill>
                  <a:srgbClr val="111827"/>
                </a:solidFill>
                <a:latin typeface="Aptos"/>
                <a:ea typeface="Microsoft JhengHei"/>
              </a:rPr>
              <a:t>為什麼要做外部驗證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7" y="694944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950">
                <a:solidFill>
                  <a:srgbClr val="4B5563"/>
                </a:solidFill>
                <a:latin typeface="Aptos"/>
                <a:ea typeface="Microsoft JhengHei"/>
              </a:rPr>
              <a:t>用低成本、可重跑、可審計的方式取得客觀第二意見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5" name="Shape 5"/>
          <p:cNvSpPr txBox="1"/>
          <p:nvPr/>
        </p:nvSpPr>
        <p:spPr>
          <a:xfrm>
            <a:off x="548640" y="1325880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6" name="Shape 6"/>
          <p:cNvSpPr txBox="1"/>
          <p:nvPr/>
        </p:nvSpPr>
        <p:spPr>
          <a:xfrm>
            <a:off x="548640" y="1325880"/>
            <a:ext cx="73152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7" name="Shape 7"/>
          <p:cNvSpPr txBox="1"/>
          <p:nvPr/>
        </p:nvSpPr>
        <p:spPr>
          <a:xfrm>
            <a:off x="713232" y="1435608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問題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13232" y="1764792"/>
            <a:ext cx="3246120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我們自己的回測結果可信嗎？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自己寫的引擎、自己驗自己，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缺乏客觀、獨立的第二意見。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4297680" y="1325880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297680" y="1325880"/>
            <a:ext cx="73152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4462272" y="1435608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作法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4462272" y="1764792"/>
            <a:ext cx="3246120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拿成熟的開源回測軟體，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吃同一批資料、同一組參數、同一套規則，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獨立重算一次，再逐項比對差異。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046720" y="1325880"/>
            <a:ext cx="342900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8046720" y="1325880"/>
            <a:ext cx="73152" cy="2103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8211312" y="1435608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為什麼有效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8211312" y="1764792"/>
            <a:ext cx="3154680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低成本：開源、本地就能跑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可重跑：條件固定，隨時複現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可審計：留下 JSON / CSV 證據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交叉比對：兩套以上對齊才算數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594360" y="3749039"/>
            <a:ext cx="10881360" cy="96012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50" b="1">
                <a:solidFill>
                  <a:srgbClr val="111827"/>
                </a:solidFill>
                <a:latin typeface="Aptos"/>
                <a:ea typeface="Microsoft JhengHei"/>
              </a:rPr>
              <a:t>一句話定位：外部驗證回答的是「同條件下訊號點與計算結果是否一致、能否重現」，不是「策略會不會賺錢」。兩者是不同問題，不要混用。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2400" b="1">
                <a:solidFill>
                  <a:srgbClr val="111827"/>
                </a:solidFill>
                <a:latin typeface="Aptos"/>
                <a:ea typeface="Microsoft JhengHei"/>
              </a:rPr>
              <a:t>驗證工作流程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7" y="694944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950">
                <a:solidFill>
                  <a:srgbClr val="4B5563"/>
                </a:solidFill>
                <a:latin typeface="Aptos"/>
                <a:ea typeface="Microsoft JhengHei"/>
              </a:rPr>
              <a:t>從我們的回測產物，到拆因子、外部重算、比對、結論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55448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 b="1">
                <a:solidFill>
                  <a:srgbClr val="FFFFFF"/>
                </a:solidFill>
                <a:latin typeface="Aptos"/>
                <a:ea typeface="Microsoft JhengHei"/>
              </a:rPr>
              <a:t>1</a:t>
            </a:r>
          </a:p>
          <a:p>
            <a:pPr algn="ctr"/>
            <a:r>
              <a:rPr lang="zh-TW" sz="1200" b="1">
                <a:solidFill>
                  <a:srgbClr val="FFFFFF"/>
                </a:solidFill>
                <a:latin typeface="Aptos"/>
                <a:ea typeface="Microsoft JhengHei"/>
              </a:rPr>
              <a:t>我們的回測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48640" y="224028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050" b="1">
                <a:solidFill>
                  <a:srgbClr val="111827"/>
                </a:solidFill>
                <a:latin typeface="Aptos"/>
                <a:ea typeface="Microsoft JhengHei"/>
              </a:rPr>
              <a:t>產出回測產物</a:t>
            </a:r>
          </a:p>
          <a:p>
            <a:pPr algn="ctr"/>
            <a:r>
              <a:rPr lang="zh-TW" sz="1050" b="1">
                <a:solidFill>
                  <a:srgbClr val="111827"/>
                </a:solidFill>
                <a:latin typeface="Aptos"/>
                <a:ea typeface="Microsoft JhengHei"/>
              </a:rPr>
              <a:t>價格 / 訊號</a:t>
            </a:r>
          </a:p>
          <a:p>
            <a:pPr algn="ctr"/>
            <a:r>
              <a:rPr lang="zh-TW" sz="1050" b="1">
                <a:solidFill>
                  <a:srgbClr val="111827"/>
                </a:solidFill>
                <a:latin typeface="Aptos"/>
                <a:ea typeface="Microsoft JhengHei"/>
              </a:rPr>
              <a:t>交易 / 權益曲線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2532888" y="2697480"/>
            <a:ext cx="274320" cy="201168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8" name="Shape 8"/>
          <p:cNvSpPr txBox="1"/>
          <p:nvPr/>
        </p:nvSpPr>
        <p:spPr>
          <a:xfrm>
            <a:off x="2834639" y="1554480"/>
            <a:ext cx="548640" cy="5486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 b="1">
                <a:solidFill>
                  <a:srgbClr val="FFFFFF"/>
                </a:solidFill>
                <a:latin typeface="Aptos"/>
                <a:ea typeface="Microsoft JhengHei"/>
              </a:rPr>
              <a:t>2</a:t>
            </a:r>
          </a:p>
          <a:p>
            <a:pPr algn="ctr"/>
            <a:r>
              <a:rPr lang="zh-TW" sz="1200" b="1">
                <a:solidFill>
                  <a:srgbClr val="FFFFFF"/>
                </a:solidFill>
                <a:latin typeface="Aptos"/>
                <a:ea typeface="Microsoft JhengHei"/>
              </a:rPr>
              <a:t>拆成因子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2880359" y="224028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050" b="1">
                <a:solidFill>
                  <a:srgbClr val="111827"/>
                </a:solidFill>
                <a:latin typeface="Aptos"/>
                <a:ea typeface="Microsoft JhengHei"/>
              </a:rPr>
              <a:t>訊號 / 指標</a:t>
            </a:r>
          </a:p>
          <a:p>
            <a:pPr algn="ctr"/>
            <a:r>
              <a:rPr lang="zh-TW" sz="1050" b="1">
                <a:solidFill>
                  <a:srgbClr val="111827"/>
                </a:solidFill>
                <a:latin typeface="Aptos"/>
                <a:ea typeface="Microsoft JhengHei"/>
              </a:rPr>
              <a:t>交易 / 績效</a:t>
            </a:r>
          </a:p>
          <a:p>
            <a:pPr algn="ctr"/>
            <a:r>
              <a:rPr lang="zh-TW" sz="1050" b="1">
                <a:solidFill>
                  <a:srgbClr val="111827"/>
                </a:solidFill>
                <a:latin typeface="Aptos"/>
                <a:ea typeface="Microsoft JhengHei"/>
              </a:rPr>
              <a:t>資料來源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864607" y="2697480"/>
            <a:ext cx="274320" cy="201168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166359" y="1554480"/>
            <a:ext cx="54864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 b="1">
                <a:solidFill>
                  <a:srgbClr val="FFFFFF"/>
                </a:solidFill>
                <a:latin typeface="Aptos"/>
                <a:ea typeface="Microsoft JhengHei"/>
              </a:rPr>
              <a:t>3</a:t>
            </a:r>
          </a:p>
          <a:p>
            <a:pPr algn="ctr"/>
            <a:r>
              <a:rPr lang="zh-TW" sz="1200" b="1">
                <a:solidFill>
                  <a:srgbClr val="FFFFFF"/>
                </a:solidFill>
                <a:latin typeface="Aptos"/>
                <a:ea typeface="Microsoft JhengHei"/>
              </a:rPr>
              <a:t>外部重算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212079" y="224028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7706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050" b="1">
                <a:solidFill>
                  <a:srgbClr val="111827"/>
                </a:solidFill>
                <a:latin typeface="Aptos"/>
                <a:ea typeface="Microsoft JhengHei"/>
              </a:rPr>
              <a:t>vectorbt</a:t>
            </a:r>
          </a:p>
          <a:p>
            <a:pPr algn="ctr"/>
            <a:r>
              <a:rPr lang="zh-TW" sz="1050" b="1">
                <a:solidFill>
                  <a:srgbClr val="111827"/>
                </a:solidFill>
                <a:latin typeface="Aptos"/>
                <a:ea typeface="Microsoft JhengHei"/>
              </a:rPr>
              <a:t>backtrader</a:t>
            </a:r>
          </a:p>
          <a:p>
            <a:pPr algn="ctr"/>
            <a:r>
              <a:rPr lang="zh-TW" sz="1050" b="1">
                <a:solidFill>
                  <a:srgbClr val="111827"/>
                </a:solidFill>
                <a:latin typeface="Aptos"/>
                <a:ea typeface="Microsoft JhengHei"/>
              </a:rPr>
              <a:t>Nautilus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196327" y="2697480"/>
            <a:ext cx="274320" cy="201168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7498079" y="1554480"/>
            <a:ext cx="54864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 b="1">
                <a:solidFill>
                  <a:srgbClr val="FFFFFF"/>
                </a:solidFill>
                <a:latin typeface="Aptos"/>
                <a:ea typeface="Microsoft JhengHei"/>
              </a:rPr>
              <a:t>4</a:t>
            </a:r>
          </a:p>
          <a:p>
            <a:pPr algn="ctr"/>
            <a:r>
              <a:rPr lang="zh-TW" sz="1200" b="1">
                <a:solidFill>
                  <a:srgbClr val="FFFFFF"/>
                </a:solidFill>
                <a:latin typeface="Aptos"/>
                <a:ea typeface="Microsoft JhengHei"/>
              </a:rPr>
              <a:t>逐因子比對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7543799" y="224028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050" b="1">
                <a:solidFill>
                  <a:srgbClr val="111827"/>
                </a:solidFill>
                <a:latin typeface="Aptos"/>
                <a:ea typeface="Microsoft JhengHei"/>
              </a:rPr>
              <a:t>對齊或差異</a:t>
            </a:r>
          </a:p>
          <a:p>
            <a:pPr algn="ctr"/>
            <a:r>
              <a:rPr lang="zh-TW" sz="1050" b="1">
                <a:solidFill>
                  <a:srgbClr val="111827"/>
                </a:solidFill>
                <a:latin typeface="Aptos"/>
                <a:ea typeface="Microsoft JhengHei"/>
              </a:rPr>
              <a:t>標記需修正項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9528047" y="2697480"/>
            <a:ext cx="274320" cy="201168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9829800" y="1554480"/>
            <a:ext cx="548640" cy="5486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 b="1">
                <a:solidFill>
                  <a:srgbClr val="FFFFFF"/>
                </a:solidFill>
                <a:latin typeface="Aptos"/>
                <a:ea typeface="Microsoft JhengHei"/>
              </a:rPr>
              <a:t>5</a:t>
            </a:r>
          </a:p>
          <a:p>
            <a:pPr algn="ctr"/>
            <a:r>
              <a:rPr lang="zh-TW" sz="1200" b="1">
                <a:solidFill>
                  <a:srgbClr val="FFFFFF"/>
                </a:solidFill>
                <a:latin typeface="Aptos"/>
                <a:ea typeface="Microsoft JhengHei"/>
              </a:rPr>
              <a:t>結論與證據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9875520" y="224028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050" b="1">
                <a:solidFill>
                  <a:srgbClr val="111827"/>
                </a:solidFill>
                <a:latin typeface="Aptos"/>
                <a:ea typeface="Microsoft JhengHei"/>
              </a:rPr>
              <a:t>通過/待補</a:t>
            </a:r>
          </a:p>
          <a:p>
            <a:pPr algn="ctr"/>
            <a:r>
              <a:rPr lang="zh-TW" sz="1050" b="1">
                <a:solidFill>
                  <a:srgbClr val="111827"/>
                </a:solidFill>
                <a:latin typeface="Aptos"/>
                <a:ea typeface="Microsoft JhengHei"/>
              </a:rPr>
              <a:t>留存比對檔案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94360" y="4206240"/>
            <a:ext cx="10881360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 b="1">
                <a:solidFill>
                  <a:srgbClr val="111827"/>
                </a:solidFill>
                <a:latin typeface="Aptos"/>
                <a:ea typeface="Microsoft JhengHei"/>
              </a:rPr>
              <a:t>每一步都對應 repo 內可查的檔案：回測產物在 results/，比對結果與差異列在 validation_result.json 與 mismatch CSV，不依賴口頭說明或聊天記錄。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2400" b="1">
                <a:solidFill>
                  <a:srgbClr val="111827"/>
                </a:solidFill>
                <a:latin typeface="Aptos"/>
                <a:ea typeface="Microsoft JhengHei"/>
              </a:rPr>
              <a:t>把驗證拆成幾個因子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7" y="694944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950">
                <a:solidFill>
                  <a:srgbClr val="4B5563"/>
                </a:solidFill>
                <a:latin typeface="Aptos"/>
                <a:ea typeface="Microsoft JhengHei"/>
              </a:rPr>
              <a:t>每個因子分開驗：各自驗什麼、目前驗到哪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234440"/>
            <a:ext cx="2377440" cy="658368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因子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2880360" y="1234440"/>
            <a:ext cx="4937760" cy="658368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驗什麼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818120" y="1234440"/>
            <a:ext cx="3657600" cy="658368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目前狀態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502920" y="1892808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訊號（進出場點）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2880360" y="1892808"/>
            <a:ext cx="4937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同一根 K 棒、同方向、同動作是否一致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818120" y="1892808"/>
            <a:ext cx="3657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已交叉驗證一致（嚴格）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02920" y="2551176"/>
            <a:ext cx="237744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指標數據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2880360" y="2551176"/>
            <a:ext cx="49377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均線、EMA、MACD 等數值是否算得相同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818120" y="2551176"/>
            <a:ext cx="365760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隨訊號一併比對，一致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502920" y="3209544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交易（下單→成交）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2880360" y="3209544"/>
            <a:ext cx="4937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訊號變成下單與成交的過程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818120" y="3209544"/>
            <a:ext cx="3657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參考性質（外部工具≠本專案撮合）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502920" y="3867912"/>
            <a:ext cx="237744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績效（報酬/回撤）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2880360" y="3867912"/>
            <a:ext cx="49377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報酬率、最大回撤等績效數字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7818120" y="3867912"/>
            <a:ext cx="365760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參考性質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02920" y="4526280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資料來源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2880360" y="4526280"/>
            <a:ext cx="4937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價格結構、合約乘數來源、與資料庫是否同源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7818120" y="4526280"/>
            <a:ext cx="3657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結構與乘數已驗；資料庫對齊待補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685800" y="5166360"/>
            <a:ext cx="10744200" cy="54864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050" b="1">
                <a:solidFill>
                  <a:srgbClr val="111827"/>
                </a:solidFill>
                <a:latin typeface="Aptos"/>
                <a:ea typeface="Microsoft JhengHei"/>
              </a:rPr>
              <a:t>判讀：訊號與指標是「嚴格關卡」，必須完全對齊；交易、績效目前是「參考」，差異會記錄供覆核，但不直接判定不通過。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2400" b="1">
                <a:solidFill>
                  <a:srgbClr val="111827"/>
                </a:solidFill>
                <a:latin typeface="Aptos"/>
                <a:ea typeface="Microsoft JhengHei"/>
              </a:rPr>
              <a:t>三套外部工具：一句話定位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7" y="694944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950">
                <a:solidFill>
                  <a:srgbClr val="4B5563"/>
                </a:solidFill>
                <a:latin typeface="Aptos"/>
                <a:ea typeface="Microsoft JhengHei"/>
              </a:rPr>
              <a:t>用途不同、保真度不同，互相補位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5" name="Shape 5"/>
          <p:cNvSpPr txBox="1"/>
          <p:nvPr/>
        </p:nvSpPr>
        <p:spPr>
          <a:xfrm>
            <a:off x="548640" y="132588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6" name="Shape 6"/>
          <p:cNvSpPr txBox="1"/>
          <p:nvPr/>
        </p:nvSpPr>
        <p:spPr>
          <a:xfrm>
            <a:off x="548640" y="1325880"/>
            <a:ext cx="73152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7" name="Shape 7"/>
          <p:cNvSpPr txBox="1"/>
          <p:nvPr/>
        </p:nvSpPr>
        <p:spPr>
          <a:xfrm>
            <a:off x="713232" y="1435608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vectorbt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13232" y="1764792"/>
            <a:ext cx="3246120" cy="166420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最快的「向量化」重算工具。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一次把整段價格丟進去算指標與訊號，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適合大量、快速地比對訊號點。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4297680" y="132588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297680" y="1325880"/>
            <a:ext cx="73152" cy="2194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4462272" y="1435608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backtrader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4462272" y="1764792"/>
            <a:ext cx="3246120" cy="166420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「逐根 K 棒」事件驅動工具。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模擬時間一根一根往前走，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比較貼近真實下單與決策流程。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046720" y="1325880"/>
            <a:ext cx="34290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8046720" y="1325880"/>
            <a:ext cx="73152" cy="2194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8211312" y="1435608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Nautilus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8211312" y="1764792"/>
            <a:ext cx="3154680" cy="166420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目標是「高保真撮合」工具，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含排隊、部分成交、資金費。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目前只做產物重播/匯出，撮合引擎尚未啟用。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594360" y="3840480"/>
            <a:ext cx="10881360" cy="8686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 b="1">
                <a:solidFill>
                  <a:srgbClr val="111827"/>
                </a:solidFill>
                <a:latin typeface="Aptos"/>
                <a:ea typeface="Microsoft JhengHei"/>
              </a:rPr>
              <a:t>提醒：本專案自己的回測重播（replay）引擎是「被驗證的對象」，不是外部工具。外部三套工具的角色是覆核它算得對不對。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2400" b="1">
                <a:solidFill>
                  <a:srgbClr val="111827"/>
                </a:solidFill>
                <a:latin typeface="Aptos"/>
                <a:ea typeface="Microsoft JhengHei"/>
              </a:rPr>
              <a:t>工具能驗什麼、不能驗什麼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7" y="694944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950">
                <a:solidFill>
                  <a:srgbClr val="4B5563"/>
                </a:solidFill>
                <a:latin typeface="Aptos"/>
                <a:ea typeface="Microsoft JhengHei"/>
              </a:rPr>
              <a:t>每套工具的強項與限制一目了然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234440"/>
            <a:ext cx="2103120" cy="777240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工具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2606040" y="1234440"/>
            <a:ext cx="5029200" cy="777240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能驗什麼（強項）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635240" y="1234440"/>
            <a:ext cx="3840480" cy="777240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限制 / 不能驗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502920" y="201168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vectorbt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2606040" y="2011680"/>
            <a:ext cx="5029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指標數值、進出場訊號點；速度快、可大量比對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635240" y="2011680"/>
            <a:ext cx="3840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不驗成交與撮合；費用設 0，績效僅供參考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02920" y="2788920"/>
            <a:ext cx="210312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backtrader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2606040" y="2788920"/>
            <a:ext cx="502920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訊號時間點與方向；逐根 K 棒模擬，貼近流程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635240" y="2788920"/>
            <a:ext cx="38404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用市價單，撮合語意與本專案不同；績效僅供參考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502920" y="356616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Nautilus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2606040" y="3566160"/>
            <a:ext cx="5029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（目標）撮合保真度、排隊、部分成交、資金費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635240" y="3566160"/>
            <a:ext cx="3840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現況只做重播/匯出，尚未啟用撮合引擎，不能單獨當通過依據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502920" y="4343400"/>
            <a:ext cx="210312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本專案 replay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2606040" y="4343400"/>
            <a:ext cx="502920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真實走風控、下單、成交、出場（被驗證對象）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7635240" y="4343400"/>
            <a:ext cx="38404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需要外部工具當第二意見才客觀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5212080"/>
            <a:ext cx="10744200" cy="50292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050" b="1">
                <a:solidFill>
                  <a:srgbClr val="111827"/>
                </a:solidFill>
                <a:latin typeface="Aptos"/>
                <a:ea typeface="Microsoft JhengHei"/>
              </a:rPr>
              <a:t>結論：vectorbt 與 backtrader 目前負責「訊號」這個最關鍵因子；Nautilus 負責未來的「成交保真度」；本專案 replay 是被覆核的對象。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2400" b="1">
                <a:solidFill>
                  <a:srgbClr val="111827"/>
                </a:solidFill>
                <a:latin typeface="Aptos"/>
                <a:ea typeface="Microsoft JhengHei"/>
              </a:rPr>
              <a:t>目前驗證成果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7" y="694944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950">
                <a:solidFill>
                  <a:srgbClr val="4B5563"/>
                </a:solidFill>
                <a:latin typeface="Aptos"/>
                <a:ea typeface="Microsoft JhengHei"/>
              </a:rPr>
              <a:t>三個技術策略的進出場訊號，已被兩套外部工具獨立重算並對齊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5" name="Shape 5"/>
          <p:cNvSpPr txBox="1"/>
          <p:nvPr/>
        </p:nvSpPr>
        <p:spPr>
          <a:xfrm>
            <a:off x="777240" y="1325880"/>
            <a:ext cx="2468880" cy="640080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策略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3246120" y="1325880"/>
            <a:ext cx="1554480" cy="640080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訊號數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4800600" y="1325880"/>
            <a:ext cx="2377440" cy="640080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vectorbt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178040" y="1325880"/>
            <a:ext cx="2377440" cy="640080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backtrader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9555480" y="1325880"/>
            <a:ext cx="1737360" cy="640080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比對結果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77240" y="1965960"/>
            <a:ext cx="24688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MA（10/200）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3246120" y="1965960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228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4800600" y="1965960"/>
            <a:ext cx="2377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重算一致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178040" y="1965960"/>
            <a:ext cx="2377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重算一致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9555480" y="1965960"/>
            <a:ext cx="1737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✓ 通過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777240" y="2606040"/>
            <a:ext cx="246888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EMA（10/200）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3246120" y="2606040"/>
            <a:ext cx="155448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252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4800600" y="2606040"/>
            <a:ext cx="237744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重算一致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7178040" y="2606040"/>
            <a:ext cx="237744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重算一致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9555480" y="2606040"/>
            <a:ext cx="173736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✓ 通過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777240" y="3246120"/>
            <a:ext cx="24688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MACD（12/26/9）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3246120" y="3246120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1558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800600" y="3246120"/>
            <a:ext cx="2377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重算一致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7178040" y="3246120"/>
            <a:ext cx="2377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重算一致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9555480" y="3246120"/>
            <a:ext cx="1737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✓ 通過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777240" y="3977639"/>
            <a:ext cx="52120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777240" y="3977639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941832" y="4087367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測試條件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941832" y="4416551"/>
            <a:ext cx="4937760" cy="8869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標的：Binance BTC 永續、1 小時 K 棒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區間：2024-01-01 ~ 2026-04-30，共 20,400 根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資料覆蓋率 100%（20,400 / 20,400）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6172200" y="3977639"/>
            <a:ext cx="53035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6172200" y="3977639"/>
            <a:ext cx="73152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6336792" y="408736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代表的意義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6336792" y="4416551"/>
            <a:ext cx="5029200" cy="8869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在相同資料、參數、規則下，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我們的訊號邏輯可以被外部工具完整重現，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沒有任何需要修正的差異。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2400" b="1">
                <a:solidFill>
                  <a:srgbClr val="111827"/>
                </a:solidFill>
                <a:latin typeface="Aptos"/>
                <a:ea typeface="Microsoft JhengHei"/>
              </a:rPr>
              <a:t>還沒驗到的部分，與下一步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7" y="694944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950">
                <a:solidFill>
                  <a:srgbClr val="4B5563"/>
                </a:solidFill>
                <a:latin typeface="Aptos"/>
                <a:ea typeface="Microsoft JhengHei"/>
              </a:rPr>
              <a:t>把「回測可信」從訊號層，延伸到執行層與績效層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5" name="Shape 5"/>
          <p:cNvSpPr txBox="1"/>
          <p:nvPr/>
        </p:nvSpPr>
        <p:spPr>
          <a:xfrm>
            <a:off x="548640" y="1325880"/>
            <a:ext cx="352044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6" name="Shape 6"/>
          <p:cNvSpPr txBox="1"/>
          <p:nvPr/>
        </p:nvSpPr>
        <p:spPr>
          <a:xfrm>
            <a:off x="548640" y="1325880"/>
            <a:ext cx="73152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7" name="Shape 7"/>
          <p:cNvSpPr txBox="1"/>
          <p:nvPr/>
        </p:nvSpPr>
        <p:spPr>
          <a:xfrm>
            <a:off x="713232" y="1435608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資料庫對齊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13232" y="1764792"/>
            <a:ext cx="3246120" cy="18013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目前資料庫缺 Binance 1 小時標準 K 棒，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價格與資料庫的逐筆對齊暫時略過。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下一步：補資料後重跑對齊檢查。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4297680" y="1325880"/>
            <a:ext cx="352044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297680" y="1325880"/>
            <a:ext cx="73152" cy="2331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4462272" y="1435608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撮合保真度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4462272" y="1764792"/>
            <a:ext cx="3246120" cy="18013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Nautilus 完整撮合引擎尚未啟用。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實際成交率、排隊、部分成交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目前還沒驗到。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046720" y="1325880"/>
            <a:ext cx="342900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8046720" y="1325880"/>
            <a:ext cx="73152" cy="2331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8211312" y="1435608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績效穩健度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8211312" y="1764792"/>
            <a:ext cx="3154680" cy="18013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尚未做樣本外 / walk-forward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等穩健度檢查。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屬於後續工作。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594360" y="3977639"/>
            <a:ext cx="1088136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 b="1">
                <a:solidFill>
                  <a:srgbClr val="111827"/>
                </a:solidFill>
                <a:latin typeface="Aptos"/>
                <a:ea typeface="Microsoft JhengHei"/>
              </a:rPr>
              <a:t>這些是「往後延伸」的工作，不影響目前訊號層已驗證的結論。它們是下一步路線圖，不是現在的失敗項。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2400" b="1">
                <a:solidFill>
                  <a:srgbClr val="111827"/>
                </a:solidFill>
                <a:latin typeface="Aptos"/>
                <a:ea typeface="Microsoft JhengHei"/>
              </a:rPr>
              <a:t>結論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7" y="694944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950">
                <a:solidFill>
                  <a:srgbClr val="4B5563"/>
                </a:solidFill>
                <a:latin typeface="Aptos"/>
                <a:ea typeface="Microsoft JhengHei"/>
              </a:rPr>
              <a:t>這套驗證能說什麼、不能說什麼，一次講清楚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5" name="Shape 5"/>
          <p:cNvSpPr txBox="1"/>
          <p:nvPr/>
        </p:nvSpPr>
        <p:spPr>
          <a:xfrm>
            <a:off x="548640" y="1325880"/>
            <a:ext cx="539496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6" name="Shape 6"/>
          <p:cNvSpPr txBox="1"/>
          <p:nvPr/>
        </p:nvSpPr>
        <p:spPr>
          <a:xfrm>
            <a:off x="548640" y="1325880"/>
            <a:ext cx="73152" cy="2468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7" name="Shape 7"/>
          <p:cNvSpPr txBox="1"/>
          <p:nvPr/>
        </p:nvSpPr>
        <p:spPr>
          <a:xfrm>
            <a:off x="713232" y="1435608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能說什麼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13232" y="1764792"/>
            <a:ext cx="5120640" cy="193852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三個技術策略的訊號與指標，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已用兩套獨立外部工具交叉驗證一致、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可重現，且留有比對證據。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代表回測的「訊號邏輯」是可信、可覆核的。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126480" y="1325880"/>
            <a:ext cx="534924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126480" y="1325880"/>
            <a:ext cx="73152" cy="2468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91072" y="1435608"/>
            <a:ext cx="5074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還不能說什麼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291072" y="1764792"/>
            <a:ext cx="5074920" cy="193852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尚未驗證實際成交品質與績效穩健度，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資料庫逐筆對齊仍待補。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因此這是「回測可信度」的證據，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不是上線決策依據；上線另有獨立流程。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594360" y="4069080"/>
            <a:ext cx="10881360" cy="77724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A5B4FC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下一步順序：補資料庫對齊 → 提升撮合保真度（Nautilus）→ 補績效穩健度檢查。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2400" b="1">
                <a:solidFill>
                  <a:srgbClr val="111827"/>
                </a:solidFill>
                <a:latin typeface="Aptos"/>
                <a:ea typeface="Microsoft JhengHei"/>
              </a:rPr>
              <a:t>附錄 A1：比對範圍與判讀欄位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7" y="694944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950">
                <a:solidFill>
                  <a:srgbClr val="4B5563"/>
                </a:solidFill>
                <a:latin typeface="Aptos"/>
                <a:ea typeface="Microsoft JhengHei"/>
              </a:rPr>
              <a:t>技術細節｜哪些是嚴格關卡、哪些是參考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234440"/>
            <a:ext cx="2926080" cy="640080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比對範圍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3429000" y="1234440"/>
            <a:ext cx="4023360" cy="640080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內容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452360" y="1234440"/>
            <a:ext cx="3931920" cy="640080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判定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502920" y="1874520"/>
            <a:ext cx="2926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indicator_values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3429000" y="1874520"/>
            <a:ext cx="4023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指標數值（SMA/EMA/MACD）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452360" y="1874520"/>
            <a:ext cx="3931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嚴格（隨訊號）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02920" y="2514600"/>
            <a:ext cx="292608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signal_logic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3429000" y="2514600"/>
            <a:ext cx="402336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訊號時間點 / 方向 / 動作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452360" y="2514600"/>
            <a:ext cx="393192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嚴格關卡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502920" y="3154680"/>
            <a:ext cx="2926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trade_execution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3429000" y="3154680"/>
            <a:ext cx="4023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下單與成交過程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452360" y="3154680"/>
            <a:ext cx="3931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參考（advisory）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502920" y="3794760"/>
            <a:ext cx="292608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pnl_semantics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3429000" y="3794760"/>
            <a:ext cx="402336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PnL / 權益計算語意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7452360" y="3794760"/>
            <a:ext cx="393192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參考（advisory）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02920" y="4434840"/>
            <a:ext cx="2926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metrics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3429000" y="4434840"/>
            <a:ext cx="4023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報酬、回撤等績效指標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7452360" y="4434840"/>
            <a:ext cx="3931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參考（advisory）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685800" y="5120640"/>
            <a:ext cx="10744200" cy="56692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880">
                <a:solidFill>
                  <a:srgbClr val="111827"/>
                </a:solidFill>
                <a:latin typeface="Aptos"/>
                <a:ea typeface="Microsoft JhengHei"/>
              </a:rPr>
              <a:t>Gate 欄位：signal_logic_gate 需至少一個 vectorbt/backtrader 的 signal_logic PASS 且 actionable_mismatch_count = 0；portable_validation_gate 為是否具備可攜 reference path。source_data_validation 檢查必要產物、OHLCV 結構、ct_val 來源與選用的 DB parity。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502920" y="6455664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640">
                <a:solidFill>
                  <a:srgbClr val="64748B"/>
                </a:solidFill>
                <a:latin typeface="Aptos"/>
                <a:ea typeface="Microsoft JhengHei"/>
              </a:rPr>
              <a:t>Source: backtesting/differential_validation.py, docs/ai_collaboration.md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2400" b="1">
                <a:solidFill>
                  <a:srgbClr val="111827"/>
                </a:solidFill>
                <a:latin typeface="Aptos"/>
                <a:ea typeface="Microsoft JhengHei"/>
              </a:rPr>
              <a:t>附錄 A2：vectorbt 技術細節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7" y="694944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950">
                <a:solidFill>
                  <a:srgbClr val="4B5563"/>
                </a:solidFill>
                <a:latin typeface="Aptos"/>
                <a:ea typeface="Microsoft JhengHei"/>
              </a:rPr>
              <a:t>向量化 reference；訊號嚴格、績效參考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5" name="Shape 5"/>
          <p:cNvSpPr txBox="1"/>
          <p:nvPr/>
        </p:nvSpPr>
        <p:spPr>
          <a:xfrm>
            <a:off x="566928" y="1325880"/>
            <a:ext cx="17830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880" b="1">
                <a:solidFill>
                  <a:srgbClr val="111827"/>
                </a:solidFill>
                <a:latin typeface="Aptos"/>
                <a:ea typeface="Microsoft JhengHei"/>
              </a:rPr>
              <a:t>price_series.csv</a:t>
            </a:r>
          </a:p>
          <a:p>
            <a:pPr algn="ctr"/>
            <a:r>
              <a:rPr lang="zh-TW" sz="880" b="1">
                <a:solidFill>
                  <a:srgbClr val="111827"/>
                </a:solidFill>
                <a:latin typeface="Aptos"/>
                <a:ea typeface="Microsoft JhengHei"/>
              </a:rPr>
              <a:t>close 序列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2377440" y="1627632"/>
            <a:ext cx="256032" cy="16459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7" name="Shape 7"/>
          <p:cNvSpPr txBox="1"/>
          <p:nvPr/>
        </p:nvSpPr>
        <p:spPr>
          <a:xfrm>
            <a:off x="2779776" y="1325880"/>
            <a:ext cx="17830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880" b="1">
                <a:solidFill>
                  <a:srgbClr val="111827"/>
                </a:solidFill>
                <a:latin typeface="Aptos"/>
                <a:ea typeface="Microsoft JhengHei"/>
              </a:rPr>
              <a:t>重算 SMA/EMA/MACD</a:t>
            </a:r>
          </a:p>
          <a:p>
            <a:pPr algn="ctr"/>
            <a:r>
              <a:rPr lang="zh-TW" sz="880" b="1">
                <a:solidFill>
                  <a:srgbClr val="111827"/>
                </a:solidFill>
                <a:latin typeface="Aptos"/>
                <a:ea typeface="Microsoft JhengHei"/>
              </a:rPr>
              <a:t>指標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590288" y="1627632"/>
            <a:ext cx="256032" cy="16459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9" name="Shape 9"/>
          <p:cNvSpPr txBox="1"/>
          <p:nvPr/>
        </p:nvSpPr>
        <p:spPr>
          <a:xfrm>
            <a:off x="4992624" y="1325880"/>
            <a:ext cx="17830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7706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880" b="1">
                <a:solidFill>
                  <a:srgbClr val="111827"/>
                </a:solidFill>
                <a:latin typeface="Aptos"/>
                <a:ea typeface="Microsoft JhengHei"/>
              </a:rPr>
              <a:t>crossover</a:t>
            </a:r>
          </a:p>
          <a:p>
            <a:pPr algn="ctr"/>
            <a:r>
              <a:rPr lang="zh-TW" sz="880" b="1">
                <a:solidFill>
                  <a:srgbClr val="111827"/>
                </a:solidFill>
                <a:latin typeface="Aptos"/>
                <a:ea typeface="Microsoft JhengHei"/>
              </a:rPr>
              <a:t>買/賣訊號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803136" y="1627632"/>
            <a:ext cx="256032" cy="16459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7205472" y="1325880"/>
            <a:ext cx="17830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880" b="1">
                <a:solidFill>
                  <a:srgbClr val="111827"/>
                </a:solidFill>
                <a:latin typeface="Aptos"/>
                <a:ea typeface="Microsoft JhengHei"/>
              </a:rPr>
              <a:t>Portfolio.from_signals</a:t>
            </a:r>
          </a:p>
          <a:p>
            <a:pPr algn="ctr"/>
            <a:r>
              <a:rPr lang="zh-TW" sz="880" b="1">
                <a:solidFill>
                  <a:srgbClr val="111827"/>
                </a:solidFill>
                <a:latin typeface="Aptos"/>
                <a:ea typeface="Microsoft JhengHei"/>
              </a:rPr>
              <a:t>entries / exits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9015984" y="1627632"/>
            <a:ext cx="256032" cy="16459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9418319" y="1325880"/>
            <a:ext cx="17830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880" b="1">
                <a:solidFill>
                  <a:srgbClr val="111827"/>
                </a:solidFill>
                <a:latin typeface="Aptos"/>
                <a:ea typeface="Microsoft JhengHei"/>
              </a:rPr>
              <a:t>reference_* 產物</a:t>
            </a:r>
          </a:p>
          <a:p>
            <a:pPr algn="ctr"/>
            <a:r>
              <a:rPr lang="zh-TW" sz="880" b="1">
                <a:solidFill>
                  <a:srgbClr val="111827"/>
                </a:solidFill>
                <a:latin typeface="Aptos"/>
                <a:ea typeface="Microsoft JhengHei"/>
              </a:rPr>
              <a:t>metrics advisory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594360" y="2560320"/>
            <a:ext cx="53492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594360" y="2560320"/>
            <a:ext cx="73152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58952" y="2670048"/>
            <a:ext cx="5074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核心參數與輸入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758952" y="2999232"/>
            <a:ext cx="5074920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strategy params：fast/slow window、MACD 12/26/9 預設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init_cash = bundle.initial_equity；fees = 0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freq 依 bar 對應年化頻率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required artifacts：result.json、price_series.csv、signals.csv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6126480" y="2560320"/>
            <a:ext cx="53492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6126480" y="2560320"/>
            <a:ext cx="73152" cy="2103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291072" y="2670048"/>
            <a:ext cx="5074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訊號邏輯與角色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291072" y="2999232"/>
            <a:ext cx="5074920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warmup 後：prev_fast≤prev_slow 且 cur_fast&gt;cur_slow → buy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prev_fast≥prev_slow 且 cur_fast&lt;cur_slow → sell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reference_role = reference_signals_only（technical）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strict scope = signal_logic；PnL/equity/metrics 為 advisory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502920" y="6455664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640">
                <a:solidFill>
                  <a:srgbClr val="64748B"/>
                </a:solidFill>
                <a:latin typeface="Aptos"/>
                <a:ea typeface="Microsoft JhengHei"/>
              </a:rPr>
              <a:t>Source: VectorBTReferenceAdapter, _technical_reference_signals()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2400" b="1">
                <a:solidFill>
                  <a:srgbClr val="111827"/>
                </a:solidFill>
                <a:latin typeface="Aptos"/>
                <a:ea typeface="Microsoft JhengHei"/>
              </a:rPr>
              <a:t>附錄 A3：backtrader 技術細節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7" y="694944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950">
                <a:solidFill>
                  <a:srgbClr val="4B5563"/>
                </a:solidFill>
                <a:latin typeface="Aptos"/>
                <a:ea typeface="Microsoft JhengHei"/>
              </a:rPr>
              <a:t>事件驅動 reference；訊號時序嚴格、下單/績效參考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5" name="Shape 5"/>
          <p:cNvSpPr txBox="1"/>
          <p:nvPr/>
        </p:nvSpPr>
        <p:spPr>
          <a:xfrm>
            <a:off x="566928" y="1298448"/>
            <a:ext cx="178308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840" b="1">
                <a:solidFill>
                  <a:srgbClr val="111827"/>
                </a:solidFill>
                <a:latin typeface="Aptos"/>
                <a:ea typeface="Microsoft JhengHei"/>
              </a:rPr>
              <a:t>price_series.csv</a:t>
            </a:r>
          </a:p>
          <a:p>
            <a:pPr algn="ctr"/>
            <a:r>
              <a:rPr lang="zh-TW" sz="840" b="1">
                <a:solidFill>
                  <a:srgbClr val="111827"/>
                </a:solidFill>
                <a:latin typeface="Aptos"/>
                <a:ea typeface="Microsoft JhengHei"/>
              </a:rPr>
              <a:t>OHLCV → PandasData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2377440" y="1627632"/>
            <a:ext cx="256032" cy="16459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7" name="Shape 7"/>
          <p:cNvSpPr txBox="1"/>
          <p:nvPr/>
        </p:nvSpPr>
        <p:spPr>
          <a:xfrm>
            <a:off x="2779776" y="1298448"/>
            <a:ext cx="178308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840" b="1">
                <a:solidFill>
                  <a:srgbClr val="111827"/>
                </a:solidFill>
                <a:latin typeface="Aptos"/>
                <a:ea typeface="Microsoft JhengHei"/>
              </a:rPr>
              <a:t>bt.Cerebro</a:t>
            </a:r>
          </a:p>
          <a:p>
            <a:pPr algn="ctr"/>
            <a:r>
              <a:rPr lang="zh-TW" sz="840" b="1">
                <a:solidFill>
                  <a:srgbClr val="111827"/>
                </a:solidFill>
                <a:latin typeface="Aptos"/>
                <a:ea typeface="Microsoft JhengHei"/>
              </a:rPr>
              <a:t>setcash(initial_equity)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590288" y="1627632"/>
            <a:ext cx="256032" cy="16459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9" name="Shape 9"/>
          <p:cNvSpPr txBox="1"/>
          <p:nvPr/>
        </p:nvSpPr>
        <p:spPr>
          <a:xfrm>
            <a:off x="4992624" y="1298448"/>
            <a:ext cx="178308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7706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840" b="1">
                <a:solidFill>
                  <a:srgbClr val="111827"/>
                </a:solidFill>
                <a:latin typeface="Aptos"/>
                <a:ea typeface="Microsoft JhengHei"/>
              </a:rPr>
              <a:t>TechnicalStrategy.next()</a:t>
            </a:r>
          </a:p>
          <a:p>
            <a:pPr algn="ctr"/>
            <a:r>
              <a:rPr lang="zh-TW" sz="840" b="1">
                <a:solidFill>
                  <a:srgbClr val="111827"/>
                </a:solidFill>
                <a:latin typeface="Aptos"/>
                <a:ea typeface="Microsoft JhengHei"/>
              </a:rPr>
              <a:t>逐根更新指標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803136" y="1627632"/>
            <a:ext cx="256032" cy="16459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7205472" y="1298448"/>
            <a:ext cx="178308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840" b="1">
                <a:solidFill>
                  <a:srgbClr val="111827"/>
                </a:solidFill>
                <a:latin typeface="Aptos"/>
                <a:ea typeface="Microsoft JhengHei"/>
              </a:rPr>
              <a:t>market orders</a:t>
            </a:r>
          </a:p>
          <a:p>
            <a:pPr algn="ctr"/>
            <a:r>
              <a:rPr lang="zh-TW" sz="840" b="1">
                <a:solidFill>
                  <a:srgbClr val="111827"/>
                </a:solidFill>
                <a:latin typeface="Aptos"/>
                <a:ea typeface="Microsoft JhengHei"/>
              </a:rPr>
              <a:t>notify_order / trade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9015984" y="1627632"/>
            <a:ext cx="256032" cy="16459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9418319" y="1298448"/>
            <a:ext cx="178308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840" b="1">
                <a:solidFill>
                  <a:srgbClr val="111827"/>
                </a:solidFill>
                <a:latin typeface="Aptos"/>
                <a:ea typeface="Microsoft JhengHei"/>
              </a:rPr>
              <a:t>signals / trades / equity</a:t>
            </a:r>
          </a:p>
          <a:p>
            <a:pPr algn="ctr"/>
            <a:r>
              <a:rPr lang="zh-TW" sz="840" b="1">
                <a:solidFill>
                  <a:srgbClr val="111827"/>
                </a:solidFill>
                <a:latin typeface="Aptos"/>
                <a:ea typeface="Microsoft JhengHei"/>
              </a:rPr>
              <a:t>比對 scopes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594360" y="2606040"/>
            <a:ext cx="53492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594360" y="2606040"/>
            <a:ext cx="73152" cy="2103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58952" y="2715768"/>
            <a:ext cx="5074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核心設定與參數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758952" y="3044952"/>
            <a:ext cx="5074920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dependency：backtrader；bt.Cerebro(stdstats=False)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broker.setcash(bundle.initial_equity)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PandasData：open/high/low/close/volume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MA 20/50、EMA 20/50、MACD 12/26/9；warmup = slow（或 slow+signal）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6126480" y="2606040"/>
            <a:ext cx="53492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6126480" y="2606040"/>
            <a:ext cx="73152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291072" y="2715768"/>
            <a:ext cx="5074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角色與 Gate 意義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291072" y="3044952"/>
            <a:ext cx="5074920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reference_role = reference_signals_only（technical）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strict scope = signal_logic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order_semantics = backtrader market orders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PnL / equity / metrics 仍為 advisory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502920" y="6455664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640">
                <a:solidFill>
                  <a:srgbClr val="64748B"/>
                </a:solidFill>
                <a:latin typeface="Aptos"/>
                <a:ea typeface="Microsoft JhengHei"/>
              </a:rPr>
              <a:t>Source: BacktraderReferenceAdapter, _run_backtrader_technical_reference()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2400" b="1">
                <a:solidFill>
                  <a:srgbClr val="111827"/>
                </a:solidFill>
                <a:latin typeface="Aptos"/>
                <a:ea typeface="Microsoft JhengHei"/>
              </a:rPr>
              <a:t>附錄 A4：Nautilus 現況與目標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7" y="694944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950">
                <a:solidFill>
                  <a:srgbClr val="4B5563"/>
                </a:solidFill>
                <a:latin typeface="Aptos"/>
                <a:ea typeface="Microsoft JhengHei"/>
              </a:rPr>
              <a:t>目前只做產物重播/匯出；完整撮合是未來路徑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5" name="Shape 5"/>
          <p:cNvSpPr txBox="1"/>
          <p:nvPr/>
        </p:nvSpPr>
        <p:spPr>
          <a:xfrm>
            <a:off x="640080" y="1371600"/>
            <a:ext cx="534924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7706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6" name="Shape 6"/>
          <p:cNvSpPr txBox="1"/>
          <p:nvPr/>
        </p:nvSpPr>
        <p:spPr>
          <a:xfrm>
            <a:off x="868680" y="155448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D97706"/>
                </a:solidFill>
                <a:latin typeface="Aptos"/>
                <a:ea typeface="Microsoft JhengHei"/>
              </a:rPr>
              <a:t>目前 v1（advisory）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1965960"/>
            <a:ext cx="489204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000">
                <a:solidFill>
                  <a:srgbClr val="111827"/>
                </a:solidFill>
                <a:latin typeface="Aptos"/>
                <a:ea typeface="Microsoft JhengHei"/>
              </a:rPr>
              <a:t>artifact signals → 模擬 long/flat trades → reference_nautilus_*.csv + export_manifest.json。</a:t>
            </a:r>
          </a:p>
          <a:p>
            <a:pPr algn="l"/>
            <a:r>
              <a:rPr lang="zh-TW" sz="1000">
                <a:solidFill>
                  <a:srgbClr val="111827"/>
                </a:solidFill>
                <a:latin typeface="Aptos"/>
                <a:ea typeface="Microsoft JhengHei"/>
              </a:rPr>
              <a:t>engine_execution = not_run；reference_role = advisory；不能讓 portable gate 單獨通過。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6172200" y="1371600"/>
            <a:ext cx="530352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9" name="Shape 9"/>
          <p:cNvSpPr txBox="1"/>
          <p:nvPr/>
        </p:nvSpPr>
        <p:spPr>
          <a:xfrm>
            <a:off x="6400800" y="155448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0F766E"/>
                </a:solidFill>
                <a:latin typeface="Aptos"/>
                <a:ea typeface="Microsoft JhengHei"/>
              </a:rPr>
              <a:t>目標高保真路徑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400800" y="1965960"/>
            <a:ext cx="48463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000">
                <a:solidFill>
                  <a:srgbClr val="111827"/>
                </a:solidFill>
                <a:latin typeface="Aptos"/>
                <a:ea typeface="Microsoft JhengHei"/>
              </a:rPr>
              <a:t>若恢復 order-book 資料：建立 Nautilus catalog + L2/L3 order book + order/fill events + funding cashflows，對接 venue / 撮合引擎，達成可獨立驗證的成交保真度。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715000" y="2194560"/>
            <a:ext cx="457200" cy="27432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40080" y="3611880"/>
            <a:ext cx="10835640" cy="11430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100" b="1">
                <a:solidFill>
                  <a:srgbClr val="111827"/>
                </a:solidFill>
                <a:latin typeface="Aptos"/>
                <a:ea typeface="Microsoft JhengHei"/>
              </a:rPr>
              <a:t>現況限制：standalone L2 runner 已停用，目前不維護 order-book 資料；排隊優先權與部分成交留待下一階段。Nautilus 在本輪驗證中不作為通過依據。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502920" y="6455664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640">
                <a:solidFill>
                  <a:srgbClr val="64748B"/>
                </a:solidFill>
                <a:latin typeface="Aptos"/>
                <a:ea typeface="Microsoft JhengHei"/>
              </a:rPr>
              <a:t>Source: NautilusReferenceAdapter, backtesting/nautilus_backtest.py, docs/backtest_live_parity_plan.md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2400" b="1">
                <a:solidFill>
                  <a:srgbClr val="111827"/>
                </a:solidFill>
                <a:latin typeface="Aptos"/>
                <a:ea typeface="Microsoft JhengHei"/>
              </a:rPr>
              <a:t>附錄 A5：實測數據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7" y="694944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950">
                <a:solidFill>
                  <a:srgbClr val="4B5563"/>
                </a:solidFill>
                <a:latin typeface="Aptos"/>
                <a:ea typeface="Microsoft JhengHei"/>
              </a:rPr>
              <a:t>2026-06-22 訊號到下單 + 2026-06-23 長區間引擎一致性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188720"/>
            <a:ext cx="1554480" cy="548640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策略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2057400" y="1188720"/>
            <a:ext cx="1554480" cy="548640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參數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3611880" y="1188720"/>
            <a:ext cx="1463040" cy="548640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訊號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5074920" y="1188720"/>
            <a:ext cx="1463040" cy="548640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下單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537960" y="1188720"/>
            <a:ext cx="1463040" cy="548640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成交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8001000" y="1188720"/>
            <a:ext cx="1463040" cy="548640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拒絕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9464040" y="1188720"/>
            <a:ext cx="1691640" cy="548640"/>
          </a:xfrm>
          <a:prstGeom prst="rect">
            <a:avLst/>
          </a:prstGeom>
          <a:solidFill>
            <a:srgbClr val="334155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819" b="1">
                <a:solidFill>
                  <a:srgbClr val="FFFFFF"/>
                </a:solidFill>
                <a:latin typeface="Aptos"/>
                <a:ea typeface="Microsoft JhengHei"/>
              </a:rPr>
              <a:t>主要拒絕原因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02920" y="1737360"/>
            <a:ext cx="1554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MA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2057400" y="1737360"/>
            <a:ext cx="1554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10/200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3611880" y="1737360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117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5074920" y="1737360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5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6537960" y="1737360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31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8001000" y="1737360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112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9464040" y="1737360"/>
            <a:ext cx="1691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fat_finger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02920" y="2286000"/>
            <a:ext cx="1554480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EMA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2057400" y="2286000"/>
            <a:ext cx="1554480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10/200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3611880" y="2286000"/>
            <a:ext cx="1463040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127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5074920" y="2286000"/>
            <a:ext cx="1463040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4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6537960" y="2286000"/>
            <a:ext cx="1463040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22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001000" y="2286000"/>
            <a:ext cx="1463040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123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9464040" y="2286000"/>
            <a:ext cx="1691640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fat_finger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502920" y="2834640"/>
            <a:ext cx="1554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 b="1">
                <a:solidFill>
                  <a:srgbClr val="111827"/>
                </a:solidFill>
                <a:latin typeface="Aptos"/>
                <a:ea typeface="Microsoft JhengHei"/>
              </a:rPr>
              <a:t>MACD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2057400" y="2834640"/>
            <a:ext cx="1554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12/26/9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3611880" y="2834640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779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5074920" y="2834640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779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6537960" y="2834640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15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8001000" y="2834640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0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9464040" y="2834640"/>
            <a:ext cx="1691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32004" tIns="32004" rIns="32004" bIns="32004">
            <a:spAutoFit/>
          </a:bodyPr>
          <a:lstStyle/>
          <a:p>
            <a:pPr algn="ctr"/>
            <a:r>
              <a:rPr lang="zh-TW" sz="780">
                <a:solidFill>
                  <a:srgbClr val="111827"/>
                </a:solidFill>
                <a:latin typeface="Aptos"/>
                <a:ea typeface="Microsoft JhengHei"/>
              </a:rPr>
              <a:t>—</a:t>
            </a:r>
          </a:p>
        </p:txBody>
      </p:sp>
      <p:sp>
        <p:nvSpPr>
          <p:cNvPr id="33" name="Shape 33"/>
          <p:cNvSpPr txBox="1"/>
          <p:nvPr/>
        </p:nvSpPr>
        <p:spPr>
          <a:xfrm>
            <a:off x="548640" y="3246120"/>
            <a:ext cx="544068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34" name="Shape 34"/>
          <p:cNvSpPr txBox="1"/>
          <p:nvPr/>
        </p:nvSpPr>
        <p:spPr>
          <a:xfrm>
            <a:off x="548640" y="324612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35" name="Shape 35"/>
          <p:cNvSpPr txBox="1"/>
          <p:nvPr/>
        </p:nvSpPr>
        <p:spPr>
          <a:xfrm>
            <a:off x="713232" y="3355848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250/1.0 風控重跑（含 bounded reduce-only bypass）</a:t>
            </a:r>
          </a:p>
        </p:txBody>
      </p:sp>
      <p:sp>
        <p:nvSpPr>
          <p:cNvPr id="36" name="Shape 36"/>
          <p:cNvSpPr txBox="1"/>
          <p:nvPr/>
        </p:nvSpPr>
        <p:spPr>
          <a:xfrm>
            <a:off x="713232" y="3685032"/>
            <a:ext cx="5166360" cy="10698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MA 117/117/30/0、EMA 126/126/10/0、MACD 779/779/13/0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MA/EMA 的出場拒絕清零（原因：出場套用進場 fat-finger 上限）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剩餘低成交率來自 realistic 成交模型，非訊號錯誤</a:t>
            </a:r>
          </a:p>
        </p:txBody>
      </p:sp>
      <p:sp>
        <p:nvSpPr>
          <p:cNvPr id="37" name="Shape 37"/>
          <p:cNvSpPr txBox="1"/>
          <p:nvPr/>
        </p:nvSpPr>
        <p:spPr>
          <a:xfrm>
            <a:off x="6172200" y="3246120"/>
            <a:ext cx="530352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38" name="Shape 38"/>
          <p:cNvSpPr txBox="1"/>
          <p:nvPr/>
        </p:nvSpPr>
        <p:spPr>
          <a:xfrm>
            <a:off x="6172200" y="3246120"/>
            <a:ext cx="73152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39" name="Shape 39"/>
          <p:cNvSpPr txBox="1"/>
          <p:nvPr/>
        </p:nvSpPr>
        <p:spPr>
          <a:xfrm>
            <a:off x="6336792" y="335584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Dual Output（MACD 全期，診斷用）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6336792" y="3685032"/>
            <a:ext cx="5029200" cy="10698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strategy_fill：1558 訊號全成交，報酬 0.39%，回撤 -6.99%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realistic：779 訊號僅 3 成交，報酬 0.66%，回撤 -2.52%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兩者皆為診斷比較，不是績效排名或上線證據</a:t>
            </a:r>
          </a:p>
        </p:txBody>
      </p:sp>
      <p:sp>
        <p:nvSpPr>
          <p:cNvPr id="41" name="Shape 41"/>
          <p:cNvSpPr txBox="1"/>
          <p:nvPr/>
        </p:nvSpPr>
        <p:spPr>
          <a:xfrm>
            <a:off x="548640" y="5029200"/>
            <a:ext cx="10927080" cy="5029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840">
                <a:solidFill>
                  <a:srgbClr val="111827"/>
                </a:solidFill>
                <a:latin typeface="Aptos"/>
                <a:ea typeface="Microsoft JhengHei"/>
              </a:rPr>
              <a:t>Claude 2026-06-23 長區間（strategy_fill）：MA/EMA/MACD 在 vectorbt 與 backtrader 的 signal_logic 皆 PASS、actionable mismatch = 0、portable gate = true；DB parity = SKIP、admissibility = advisory_only。ct_val（BTC-USDT-SWAP）來源 DB、值 1.0、venue binance、authoritative。</a:t>
            </a:r>
          </a:p>
        </p:txBody>
      </p:sp>
      <p:sp>
        <p:nvSpPr>
          <p:cNvPr id="42" name="Shape 42"/>
          <p:cNvSpPr txBox="1"/>
          <p:nvPr/>
        </p:nvSpPr>
        <p:spPr>
          <a:xfrm>
            <a:off x="502920" y="6455664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640">
                <a:solidFill>
                  <a:srgbClr val="64748B"/>
                </a:solidFill>
                <a:latin typeface="Aptos"/>
                <a:ea typeface="Microsoft JhengHei"/>
              </a:rPr>
              <a:t>Source: results/validation_lab_signal_order_check_20260622*.json, ..._dual_fullperiod_execution_comparison.json, claude_engine_consistency_20260623/validation_result.json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2400" b="1">
                <a:solidFill>
                  <a:srgbClr val="111827"/>
                </a:solidFill>
                <a:latin typeface="Aptos"/>
                <a:ea typeface="Microsoft JhengHei"/>
              </a:rPr>
              <a:t>附錄 A6：操作入口與證據位置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7" y="694944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950">
                <a:solidFill>
                  <a:srgbClr val="4B5563"/>
                </a:solidFill>
                <a:latin typeface="Aptos"/>
                <a:ea typeface="Microsoft JhengHei"/>
              </a:rPr>
              <a:t>報告對應到 repo 內可查的 CLI、API、UI 與檔案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5" name="Shape 5"/>
          <p:cNvSpPr txBox="1"/>
          <p:nvPr/>
        </p:nvSpPr>
        <p:spPr>
          <a:xfrm>
            <a:off x="548640" y="1325880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6" name="Shape 6"/>
          <p:cNvSpPr txBox="1"/>
          <p:nvPr/>
        </p:nvSpPr>
        <p:spPr>
          <a:xfrm>
            <a:off x="548640" y="1325880"/>
            <a:ext cx="73152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7" name="Shape 7"/>
          <p:cNvSpPr txBox="1"/>
          <p:nvPr/>
        </p:nvSpPr>
        <p:spPr>
          <a:xfrm>
            <a:off x="713232" y="1435608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CLI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13232" y="1764792"/>
            <a:ext cx="3246120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python scripts/run_differential_validation.py --run-id &lt;id&gt;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--strategy &lt;name&gt; --fixture-run-id &lt;id&gt;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--engines vectorbt,backtrader,nautilus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--validation-id &lt;stable_id&gt;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4297680" y="1325880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297680" y="1325880"/>
            <a:ext cx="73152" cy="2103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4462272" y="1435608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API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4462272" y="1764792"/>
            <a:ext cx="3246120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POST /strategy-validation/run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GET /strategy-validation/contracts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POST /{run_id}/differential-validation/run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GET artifact endpoints（mismatch/reference 檔）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046720" y="1325880"/>
            <a:ext cx="342900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8046720" y="1325880"/>
            <a:ext cx="73152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8211312" y="1435608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UI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8211312" y="1764792"/>
            <a:ext cx="3154680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Validation view 顯示各引擎角色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訊號嚴格；指標/交易/績效標示 advisory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覆核者提示 PASS 的適用範圍</a:t>
            </a:r>
          </a:p>
          <a:p>
            <a:pPr algn="l"/>
            <a:r>
              <a:rPr lang="zh-TW" sz="880">
                <a:solidFill>
                  <a:srgbClr val="4B5563"/>
                </a:solidFill>
                <a:latin typeface="Aptos"/>
                <a:ea typeface="Microsoft JhengHei"/>
              </a:rPr>
              <a:t>• 可預覽 mismatches_*.csv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594360" y="3749039"/>
            <a:ext cx="108813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ctr" lIns="54864" tIns="54864" rIns="54864" bIns="54864">
            <a:spAutoFit/>
          </a:bodyPr>
          <a:lstStyle/>
          <a:p>
            <a:pPr algn="ctr"/>
            <a:r>
              <a:rPr lang="zh-TW" sz="1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22960" y="388620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300" b="1">
                <a:solidFill>
                  <a:srgbClr val="111827"/>
                </a:solidFill>
                <a:latin typeface="Aptos"/>
                <a:ea typeface="Microsoft JhengHei"/>
              </a:rPr>
              <a:t>證據檔案位置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822960" y="429768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1000">
                <a:solidFill>
                  <a:srgbClr val="4B5563"/>
                </a:solidFill>
                <a:latin typeface="Aptos"/>
                <a:ea typeface="Microsoft JhengHei"/>
              </a:rPr>
              <a:t>results/validation_lab_*（各策略 run）、validation/.../validation_result.json、mismatches_*.csv、results/engine_consistency_fixture/fixture_manifest.json（離線 smoke）。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02920" y="6455664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spAutoFit/>
          </a:bodyPr>
          <a:lstStyle/>
          <a:p>
            <a:pPr algn="l"/>
            <a:r>
              <a:rPr lang="zh-TW" sz="640">
                <a:solidFill>
                  <a:srgbClr val="64748B"/>
                </a:solidFill>
                <a:latin typeface="Aptos"/>
                <a:ea typeface="Microsoft JhengHei"/>
              </a:rPr>
              <a:t>Source: scripts/run_differential_validation.py, routes_backtest.py, frontend/view-validation.js, results/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Report Theme">
  <a:themeElements>
    <a:clrScheme name="Codex">
      <a:dk1>
        <a:srgbClr val="111827"/>
      </a:dk1>
      <a:lt1>
        <a:srgbClr val="FFFFFF"/>
      </a:lt1>
      <a:dk2>
        <a:srgbClr val="334155"/>
      </a:dk2>
      <a:lt2>
        <a:srgbClr val="F7F8FA"/>
      </a:lt2>
      <a:accent1>
        <a:srgbClr val="2563EB"/>
      </a:accent1>
      <a:accent2>
        <a:srgbClr val="0F766E"/>
      </a:accent2>
      <a:accent3>
        <a:srgbClr val="D97706"/>
      </a:accent3>
      <a:accent4>
        <a:srgbClr val="7C3AED"/>
      </a:accent4>
      <a:accent5>
        <a:srgbClr val="16A34A"/>
      </a:accent5>
      <a:accent6>
        <a:srgbClr val="DC2626"/>
      </a:accent6>
      <a:hlink>
        <a:srgbClr val="2563EB"/>
      </a:hlink>
      <a:folHlink>
        <a:srgbClr val="7C3AED"/>
      </a:folHlink>
    </a:clrScheme>
    <a:fontScheme name="Codex">
      <a:majorFont>
        <a:latin typeface="Aptos Display"/>
        <a:ea typeface="Microsoft JhengHei"/>
      </a:majorFont>
      <a:minorFont>
        <a:latin typeface="Aptos"/>
        <a:ea typeface="Microsoft JhengHei"/>
      </a:minorFont>
    </a:fontScheme>
    <a:fmtScheme name="Codex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OpenXML Generator</Application>
  <PresentationFormat>On-screen Show (16:9)</PresentationFormat>
  <Slides>16</Slides>
  <Notes>0</Notes>
  <HiddenSlides>0</HiddenSlides>
  <ScaleCrop>false</ScaleCrop>
  <Company>quant_strategy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外接回測系統與驗證架構統整</dc:title>
  <dc:creator>Codex</dc:creator>
  <cp:lastModifiedBy>Codex</cp:lastModifiedBy>
  <dcterms:created xsi:type="dcterms:W3CDTF">2026-06-22T17:50:56Z</dcterms:created>
  <dcterms:modified xsi:type="dcterms:W3CDTF">2026-06-22T17:50:56Z</dcterms:modified>
</cp:coreProperties>
</file>