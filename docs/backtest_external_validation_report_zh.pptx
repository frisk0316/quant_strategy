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685800" y="347472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700" b="1">
                <a:solidFill>
                  <a:srgbClr val="FFFFFF"/>
                </a:solidFill>
                <a:latin typeface="Aptos"/>
                <a:ea typeface="Microsoft JhengHei"/>
              </a:rPr>
              <a:t>外接回測系統與驗證架構統整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13232" y="132588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700">
                <a:solidFill>
                  <a:srgbClr val="111827"/>
                </a:solidFill>
                <a:latin typeface="Aptos"/>
                <a:ea typeface="Microsoft JhengHei"/>
              </a:rPr>
              <a:t>vectorbt / backtrader / Nautilus：架構、參數、回測邏輯與目前驗證 Gate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13232" y="1993392"/>
            <a:ext cx="64922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100">
                <a:solidFill>
                  <a:srgbClr val="4B5563"/>
                </a:solidFill>
                <a:latin typeface="Aptos"/>
                <a:ea typeface="Microsoft JhengHei"/>
              </a:rPr>
              <a:t>Quant Strategy Repo｜2026-06-22｜Validation Lab 報告用簡報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713232" y="2560320"/>
            <a:ext cx="1664208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Signal Logic Gate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2679191" y="2560320"/>
            <a:ext cx="1664208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Advisory PnL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645152" y="2560320"/>
            <a:ext cx="1664208" cy="25603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50" b="1">
                <a:solidFill>
                  <a:srgbClr val="FFFFFF"/>
                </a:solidFill>
                <a:latin typeface="Aptos"/>
                <a:ea typeface="Microsoft JhengHei"/>
              </a:rPr>
              <a:t>ct_val / WF / CPCV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13232" y="3154680"/>
            <a:ext cx="347472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13232" y="3154680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877824" y="3264408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本簡報回答三件事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877824" y="359359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三套外接回測系統目前在 repo 中扮演的角色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各引擎吃哪些 artifact / 參數，如何產生信號、交易與 equity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目前驗證流程如何做 gate，以及哪些結果只能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4434840" y="3154680"/>
            <a:ext cx="347472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34840" y="3154680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4599432" y="3264408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最重要的界線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4599432" y="359359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 指標策略只把 signal logic 當 strict 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PnL / trade / metrics mismatch 目前可被審查引用，但不是自動 gate fail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Nautilus v1 是匯出/重播 evidence，尚未跑完整 matching engine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156448" y="3154680"/>
            <a:ext cx="29718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156448" y="3154680"/>
            <a:ext cx="73152" cy="1920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321040" y="3264408"/>
            <a:ext cx="2697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部署聲明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321040" y="3593592"/>
            <a:ext cx="26974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這份報告不宣稱任何策略可 live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demo/shadow/live 仍需通過協作文件列出的所有 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使用者明確批准前不得升級風險模式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一頁結論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目前外部 reference engine 的分工與可用性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4864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4864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1323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1323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最快速的 vectorized reference / scanner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 策略可重算 SMA/EMA/MACD crossover signal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使用 Portfolio.from_signals 產生 equity，但 PnL semantics advisory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370832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370832" y="1234440"/>
            <a:ext cx="73152" cy="1828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535424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535424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事件驅動 reference path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TechnicalStrategy.next() 逐 bar 更新指標 state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Market order / broker equity 可供對照，但 v1 不作嚴格 PnL gate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8193024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193024" y="123444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357616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357616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高保真 L2 / queue-aware 目標框架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目前 differential validation 只做 artifact replay/export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engine_execution = not_run，無法通過 independent portable gate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594360" y="3520440"/>
            <a:ext cx="10972800" cy="1417320"/>
          </a:xfrm>
          <a:prstGeom prst="round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777240" y="3685032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400" b="1">
                <a:solidFill>
                  <a:srgbClr val="0F766E"/>
                </a:solidFill>
                <a:latin typeface="Aptos"/>
                <a:ea typeface="Microsoft JhengHei"/>
              </a:rPr>
              <a:t>目前 Gate 判讀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777240" y="4069080"/>
            <a:ext cx="10378440" cy="62179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050">
                <a:solidFill>
                  <a:srgbClr val="111827"/>
                </a:solidFill>
                <a:latin typeface="Aptos"/>
                <a:ea typeface="Microsoft JhengHei"/>
              </a:rPr>
              <a:t>technical_indicator 策略（ma_crossover / ema_crossover / macd_crossover）需要至少一個 vectorbt 或 backtrader 的 signal_logic PASS，且 actionable_mismatch_count = 0。其他策略與 Nautilus v1 目前多為 advisory replay/export，不能單獨作 promotion evidence。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backtesting/differential_validation.py, docs/ai_collaboration.md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三引擎定位矩陣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相同 artifact bundle，三種 reference 行為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234440"/>
            <a:ext cx="11430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引擎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645920" y="1234440"/>
            <a:ext cx="196596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目前 role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3611880" y="1234440"/>
            <a:ext cx="22860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主要 mode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897880" y="1234440"/>
            <a:ext cx="23317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Gate 影響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229600" y="1234440"/>
            <a:ext cx="30175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主要限制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02920" y="1947672"/>
            <a:ext cx="1143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1645920" y="1947672"/>
            <a:ext cx="1965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(technical)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611880" y="1947672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technical_indicator_recompute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artifact_signal_replay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897880" y="1947672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 signal_logic 可 PASS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非 technical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229600" y="1947672"/>
            <a:ext cx="3017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費用設 0；PnL/equity/metrics 不作嚴格 gate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02920" y="2660904"/>
            <a:ext cx="11430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1645920" y="2660904"/>
            <a:ext cx="196596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(technical)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3611880" y="2660904"/>
            <a:ext cx="22860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technical_indicator_recompute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artifact_signal_replay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5897880" y="2660904"/>
            <a:ext cx="23317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technical signal_logic 可 PASS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order/PnL advisory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229600" y="2660904"/>
            <a:ext cx="30175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market order semantics 與專案撮合模型不等價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3374136"/>
            <a:ext cx="1143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1645920" y="3374136"/>
            <a:ext cx="1965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advisory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611880" y="3374136"/>
            <a:ext cx="2286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nautilus_artifact_replay_export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897880" y="3374136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不能讓 portable gate 通過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229600" y="3374136"/>
            <a:ext cx="3017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v1 不跑 Nautilus matching engine；需 L2/L3 catalog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31520" y="4572000"/>
            <a:ext cx="10469880" cy="86868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932688" y="4681728"/>
            <a:ext cx="10012680" cy="53035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030">
                <a:solidFill>
                  <a:srgbClr val="111827"/>
                </a:solidFill>
                <a:latin typeface="Aptos"/>
                <a:ea typeface="Microsoft JhengHei"/>
              </a:rPr>
              <a:t>判讀規則：strict signal logic 僅涵蓋 indicator/signal 方向與時序；trade_execution、pnl_semantics、metrics 為 advisory scope，但 reviewer 仍可用非零 mismatch count 暫緩或拒絕 promotion ADR。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REFERENCE_VALIDATION_CONTRACTS, compare_reference() scoped summaries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外部差異驗證架構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從既有回測 artifact 到 reference output 與 mismatch tables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58368" y="1417320"/>
            <a:ext cx="20574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Backtest Artifact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Bundle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result / price / signals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trades / fills / equity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154680" y="1417320"/>
            <a:ext cx="20116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Contract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Selection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strategy class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required artifacts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engine roles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596128" y="1417320"/>
            <a:ext cx="21488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Reference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Adapters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156448" y="141732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Normalized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Reference Outputs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signals / trades</a:t>
            </a:r>
          </a:p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equity / metrics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272491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19379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754112" y="1746504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749039" y="2880360"/>
            <a:ext cx="2240280" cy="7498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A5B4FC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00" b="1">
                <a:solidFill>
                  <a:srgbClr val="111827"/>
                </a:solidFill>
                <a:latin typeface="Aptos"/>
                <a:ea typeface="Microsoft JhengHei"/>
              </a:rPr>
              <a:t>Comparator</a:t>
            </a:r>
          </a:p>
          <a:p>
            <a:pPr algn="ctr"/>
            <a:r>
              <a:rPr lang="zh-TW" sz="1000" b="1">
                <a:solidFill>
                  <a:srgbClr val="111827"/>
                </a:solidFill>
                <a:latin typeface="Aptos"/>
                <a:ea typeface="Microsoft JhengHei"/>
              </a:rPr>
              <a:t>indicator / signal / trade / PnL / metrics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629400" y="2331720"/>
            <a:ext cx="237744" cy="566928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6263640" y="3127248"/>
            <a:ext cx="320040" cy="164592"/>
          </a:xfrm>
          <a:prstGeom prst="lef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58368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5EEAD4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source_data_validation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OHLCV / required files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ct_val / funding / DB parity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3337560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validation_result.json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status / gates / conclusion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016752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mismatches_*.csv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indicators / signals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trades / pnl / metrics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686800" y="4343400"/>
            <a:ext cx="233172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API / UI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strategy-validation</a:t>
            </a:r>
          </a:p>
          <a:p>
            <a:pPr algn="ctr"/>
            <a:r>
              <a:rPr lang="zh-TW" sz="910" b="1">
                <a:solidFill>
                  <a:srgbClr val="111827"/>
                </a:solidFill>
                <a:latin typeface="Aptos"/>
                <a:ea typeface="Microsoft JhengHei"/>
              </a:rPr>
              <a:t>view-validation.js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2999232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669280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339327" y="4608576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run_differential_validation(), _write_reference_artifacts(), routes_backtest.py, frontend/view-validation.js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vectorbt：架構、參數與回測邏輯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快速 vectorized reference；technical signal strict，PnL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66928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close series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77440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2779776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SMA / EMA / MACD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indicator recompute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4590288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4992624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crossover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buy / sell signals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803136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205472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Portfolio.from_signals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entries / exits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9015984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418319" y="1298448"/>
            <a:ext cx="178308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reference_* artifacts</a:t>
            </a:r>
          </a:p>
          <a:p>
            <a:pPr algn="ctr"/>
            <a:r>
              <a:rPr lang="zh-TW" sz="880" b="1">
                <a:solidFill>
                  <a:srgbClr val="111827"/>
                </a:solidFill>
                <a:latin typeface="Aptos"/>
                <a:ea typeface="Microsoft JhengHei"/>
              </a:rPr>
              <a:t>metrics advisory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2514600"/>
            <a:ext cx="35204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94360" y="2514600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58952" y="2624328"/>
            <a:ext cx="3246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核心參數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58952" y="2953512"/>
            <a:ext cx="324612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strategy params: fast_window/slow_window, fast_span/slow_span, MACD 12/26/9 預設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init_cash = bundle.initial_equity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fees = 0.0；freq = bar 對應年化頻率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required: result.json, price_series.csv, signals.csv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370832" y="2514600"/>
            <a:ext cx="35204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370832" y="2514600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4535424" y="2624328"/>
            <a:ext cx="3246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Signal 邏輯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535424" y="2953512"/>
            <a:ext cx="324612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warmup 後檢查 prev_fast &lt;= prev_slow 且 cur_fast &gt; cur_slow → buy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prev_fast &gt;= prev_slow 且 cur_fast &lt; cur_slow → sell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若 artifact trades 有 size_after，使用 execution position 判斷是否已在倉位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56448" y="2514600"/>
            <a:ext cx="3154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156448" y="2514600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321040" y="2624328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研究掃描補充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953512"/>
            <a:ext cx="288036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vectorbt_scanner.py 用於快速參數掃描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Funding: APR threshold / entry fee proxy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Order-book MM scanners 已移除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VectorBTReferenceAdapter, _technical_reference_signals(), backtesting/vectorbt_scanner.py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backtrader：架構、參數與回測邏輯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事件驅動 technical reference；signal timing strict，order/PnL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66928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OHLCV → PandasData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77440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2779776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bt.Cerebro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setcash(initial_equity)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4590288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4992624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TechnicalStrategy.next()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update indicator state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803136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7205472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buy/sell market orders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notify_order/trade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9015984" y="1572768"/>
            <a:ext cx="256032" cy="16459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418319" y="1261872"/>
            <a:ext cx="17830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signals / trades / equity</a:t>
            </a:r>
          </a:p>
          <a:p>
            <a:pPr algn="ctr"/>
            <a:r>
              <a:rPr lang="zh-TW" sz="860" b="1">
                <a:solidFill>
                  <a:srgbClr val="111827"/>
                </a:solidFill>
                <a:latin typeface="Aptos"/>
                <a:ea typeface="Microsoft JhengHei"/>
              </a:rPr>
              <a:t>compare scopes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94360" y="2578608"/>
            <a:ext cx="73152" cy="1920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589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核心設定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589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dependency: backtrader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bt.Cerebro(stdstats=False)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broker.setcash(bundle.initial_equity)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PandasData: open/high/low/close/volume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42519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251960" y="2578608"/>
            <a:ext cx="73152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44165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策略參數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165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MA: fast_window=20, slow_window=50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EMA: fast_span=20, slow_span=50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MACD: fast_span=12, slow_span=26, signal_span=9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warmup = slow 或 slow+signal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909560" y="2578608"/>
            <a:ext cx="342900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909560" y="2578608"/>
            <a:ext cx="73152" cy="1920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74152" y="2688336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Gate 意義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074152" y="3017520"/>
            <a:ext cx="3154680" cy="13898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reference_role = reference_signals_only for technical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strict scope: signal_logic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order_semantics = backtrader_market_orders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PnL / equity / metrics 仍為 advisory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BacktraderReferenceAdapter, _run_backtrader_technical_reference()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Nautilus：目前 v1 與目標高保真路徑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Nautilus 是 queue-aware 目標框架；目前 validation adapter 尚未跑 engine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58368" y="1298448"/>
            <a:ext cx="489204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868680" y="14813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D97706"/>
                </a:solidFill>
                <a:latin typeface="Aptos"/>
                <a:ea typeface="Microsoft JhengHei"/>
              </a:rPr>
              <a:t>目前 differential validation v1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68680" y="1874519"/>
            <a:ext cx="443484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artifact signals → _simulate_long_flat_trades → reference_nautilus_signals/trades/equity_curve.csv → export_manifest.json</a:t>
            </a:r>
          </a:p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engine_execution = not_run；reference_role = advisory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400800" y="1298448"/>
            <a:ext cx="489204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6611112" y="14813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0F766E"/>
                </a:solidFill>
                <a:latin typeface="Aptos"/>
                <a:ea typeface="Microsoft JhengHei"/>
              </a:rPr>
              <a:t>目標高保真路徑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611112" y="1874519"/>
            <a:ext cx="443484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111827"/>
                </a:solidFill>
                <a:latin typeface="Aptos"/>
                <a:ea typeface="Microsoft JhengHei"/>
              </a:rPr>
              <a:t>目前 v1：artifact / signal-point export。未來若恢復 order-book data，再規劃 Nautilus catalog + L2/L3 book + order/fill events + funding cashflows → OKX venue / matching engine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715000" y="2011680"/>
            <a:ext cx="502920" cy="27432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58368" y="3657600"/>
            <a:ext cx="4892040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58368" y="3657600"/>
            <a:ext cx="73152" cy="14447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822960" y="3767328"/>
            <a:ext cx="46177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current v1 參數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22960" y="4096512"/>
            <a:ext cx="46177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strategy / fixture-run-id / engines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artifact OHLCV + signal-point export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order/fill and matching-engine semantics remain advisory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6400800" y="3657600"/>
            <a:ext cx="4892040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400800" y="3657600"/>
            <a:ext cx="73152" cy="14447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6565392" y="3767328"/>
            <a:ext cx="46177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目前限制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6565392" y="4096512"/>
            <a:ext cx="46177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standalone L2 runner 已停用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目前不維護 order-book data；queue priority / partial fill 留待下一階段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不能作 live readiness 或 promotion evidence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NautilusReferenceAdapter, backtesting/nautilus_backtest.py, docs/backtest_live_parity_plan.md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策略範圍與參數摘要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哪些策略可以 independent signal reference，哪些仍是 advisory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170432"/>
            <a:ext cx="18288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策略類型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331720" y="1170432"/>
            <a:ext cx="214884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策略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4480560" y="1170432"/>
            <a:ext cx="370332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外部引擎狀態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183880" y="1170432"/>
            <a:ext cx="306324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Gate 判讀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502920" y="1883664"/>
            <a:ext cx="1828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Technical indicator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2331720" y="1883664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ma_crossover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ema_crossover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macd_crossover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80560" y="1883664"/>
            <a:ext cx="3703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vectorbt/backtrader: implemented reference_signals_only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Nautilus: advisory export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8183880" y="1883664"/>
            <a:ext cx="3063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至少 1 個 vectorbt/backtrader signal_logic PASS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02920" y="2596896"/>
            <a:ext cx="18288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Carry / stat arb / rotation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2331720" y="2596896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funding_carry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pairs_trading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ohlcv_rotation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80560" y="2596896"/>
            <a:ext cx="37033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三引擎多為 artifact_signal_replay / advisory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183880" y="2596896"/>
            <a:ext cx="30632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不能單獨作 promotion evidence；需完整 adapter 或替代驗證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502920" y="3310128"/>
            <a:ext cx="1828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Validation-only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2331720" y="3310128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daily_winner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4480560" y="3310128"/>
            <a:ext cx="3703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artifact replay / advisory 或 not applicable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183880" y="3310128"/>
            <a:ext cx="3063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僅驗證 DB 聚合與 artifact 串接；不得 live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502920" y="4023360"/>
            <a:ext cx="18288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Removed order-book MM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2331720" y="4023360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as_market_maker</a:t>
            </a:r>
          </a:p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obi_market_maker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480560" y="4023360"/>
            <a:ext cx="370332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已自 active UI/API/validation scope 刪除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183880" y="4023360"/>
            <a:ext cx="30632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不維護 order-book data；不得作為 promotion target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685800" y="5285232"/>
            <a:ext cx="10744200" cy="50292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50" b="1">
                <a:solidFill>
                  <a:srgbClr val="111827"/>
                </a:solidFill>
                <a:latin typeface="Aptos"/>
                <a:ea typeface="Microsoft JhengHei"/>
              </a:rPr>
              <a:t>關鍵參數來源：strategy_params 來自 result/config；不得依 chat memory 改變策略假設。新增策略必須宣告 Reference portability contract，否則不得進入 review/demo/shadow。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docs/ai_collaboration.md 新策略接入規範, REFERENCE_VALIDATION_CONTRACTS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目前回測系統驗證方式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source data checks + external reference + scoped mismatch + gate conclusion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325880"/>
            <a:ext cx="50292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1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回測產物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result.json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price_series.csv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signals/trades/fills/equity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514600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8" name="Shape 8"/>
          <p:cNvSpPr txBox="1"/>
          <p:nvPr/>
        </p:nvSpPr>
        <p:spPr>
          <a:xfrm>
            <a:off x="2834639" y="1325880"/>
            <a:ext cx="502920" cy="5029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2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資料檢查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292607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required artifacts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OHLCV 結構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ct_val / funding / DB parity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84631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166359" y="1325880"/>
            <a:ext cx="5029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3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外部引擎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25779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vectorbt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backtrader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nautilus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7803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498079" y="132588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4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比較 scopes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7589519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indicator_values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signal_logic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trade / pnl / metrics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9509759" y="2331720"/>
            <a:ext cx="292608" cy="201168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9829800" y="1325880"/>
            <a:ext cx="5029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5</a:t>
            </a:r>
          </a:p>
          <a:p>
            <a:pPr algn="ctr"/>
            <a:r>
              <a:rPr lang="zh-TW" sz="1200" b="1">
                <a:solidFill>
                  <a:srgbClr val="FFFFFF"/>
                </a:solidFill>
                <a:latin typeface="Aptos"/>
                <a:ea typeface="Microsoft JhengHei"/>
              </a:rPr>
              <a:t>Gate / 結論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9921240" y="1938528"/>
            <a:ext cx="1874519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signal_logic_gate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portable_validation_gate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validation_conclusion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640080" y="3703320"/>
            <a:ext cx="333756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輸出檔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96112" y="409651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validation_result.json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reference_&lt;engine&gt;_*.csv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mismatches_*.csv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43984" y="3703320"/>
            <a:ext cx="333756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CLI / API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700016" y="409651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scripts/run_differential_validation.py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POST /strategy-validation/run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POST /{run_id}/differential-validation/run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247888" y="3703320"/>
            <a:ext cx="2971800" cy="1143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 b="1">
                <a:solidFill>
                  <a:srgbClr val="111827"/>
                </a:solidFill>
                <a:latin typeface="Aptos"/>
                <a:ea typeface="Microsoft JhengHei"/>
              </a:rPr>
              <a:t>UI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503920" y="4096512"/>
            <a:ext cx="26060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view-validation.js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engine role / mismatch count</a:t>
            </a:r>
          </a:p>
          <a:p>
            <a:pPr algn="l"/>
            <a:r>
              <a:rPr lang="zh-TW" sz="860">
                <a:solidFill>
                  <a:srgbClr val="4B5563"/>
                </a:solidFill>
                <a:latin typeface="Aptos"/>
                <a:ea typeface="Microsoft JhengHei"/>
              </a:rPr>
              <a:t>advisory tooltips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_source_data_validation(), compare_reference(), run_differential_validation(), routes_backtest.py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Deployment Gate 關係圖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Differential validation 只是其中一個必過項，不取代 WF/CPCV 或風控 gate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Historical artifact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validation_status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04495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347472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262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Idealized-fill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排除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83387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9" name="Shape 9"/>
          <p:cNvSpPr txBox="1"/>
          <p:nvPr/>
        </p:nvSpPr>
        <p:spPr>
          <a:xfrm>
            <a:off x="6263640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Differential validation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technical signal strict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8622792" y="14721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9052559" y="11155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ct_val provenance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SWAP 必過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1828800" y="2148839"/>
            <a:ext cx="219456" cy="402336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Walk-forward / CPCV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DSR &amp; PSR ≥ 0.95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3044952" y="30723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347472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Replay / shadow / demo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fill/order/equity/fees/funding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5833872" y="3072384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263640" y="2715768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User approval</a:t>
            </a:r>
          </a:p>
          <a:p>
            <a:pPr algn="ctr"/>
            <a:r>
              <a:rPr lang="zh-TW" sz="930" b="1">
                <a:solidFill>
                  <a:srgbClr val="111827"/>
                </a:solidFill>
                <a:latin typeface="Aptos"/>
                <a:ea typeface="Microsoft JhengHei"/>
              </a:rPr>
              <a:t>才可升級風險模式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731520" y="4892040"/>
            <a:ext cx="10607040" cy="6858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硬規則：未通過這些 gate 與使用者批准前，不得宣稱策略 ready for live。Differential validation PASS 也只代表特定 reference scope，不代表成交、資金費、成本模型或實盤風險已驗證。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docs/ai_collaboration.md 回測正確性 Gate / 部署 Gate / ct_val 來源檢查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目前操作入口與既有 artifact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報告對應到 repo 內可查的 CLI、API、UI 與 results 目錄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589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CLI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89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python scripts/run_differential_validation.py --run-id &lt;id&gt;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--strategy &lt;name&gt; --fixture-run-id &lt;id&gt;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--engines vectorbt,backtrader,nautilus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--validation-id &lt;stable_id&gt;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2519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251960" y="1234440"/>
            <a:ext cx="73152" cy="1828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165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API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4165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POST /strategy-validation/run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GET /strategy-validation/contracts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POST /{run_id}/differential-validation/run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GET artifact endpoints for mismatch/reference files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909560" y="1234440"/>
            <a:ext cx="34290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909560" y="123444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0741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UI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074152" y="1673352"/>
            <a:ext cx="315468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Validation view exposes engine roles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Signals strict；Indicators/Trades/PnL/Metrics advisory labels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Reviewer guardrail explains PASS scope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Mismatch preview reads mismatches_*.csv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58368" y="3703320"/>
            <a:ext cx="1065276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68680" y="3822191"/>
            <a:ext cx="101498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250" b="1">
                <a:solidFill>
                  <a:srgbClr val="111827"/>
                </a:solidFill>
                <a:latin typeface="Aptos"/>
                <a:ea typeface="Microsoft JhengHei"/>
              </a:rPr>
              <a:t>目前 results/strategy_validation 下可見策略目錄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68680" y="4169663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69">
                <a:solidFill>
                  <a:srgbClr val="4B5563"/>
                </a:solidFill>
                <a:latin typeface="Aptos"/>
                <a:ea typeface="Microsoft JhengHei"/>
              </a:rPr>
              <a:t>daily_winner、macd_crossover、ma_crossover。既有 artifacts 可能早於最新欄位要求；若要作 promotion evidence，technical 策略需重跑並確認 validation_result.json 含必要 gate 欄位。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scripts/run_differential_validation.py, routes_backtest.py, frontend/view-validation.js, results/strategy_validation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建議下一步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把外部驗證從「可重播」推進到「可作 promotion evidence」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234440"/>
            <a:ext cx="73152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589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短期：驗證產物一致化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89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重跑 legacy ma/macd artifacts，補齊 source_data_validation / validation_conclusion / portable_validation_gate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把 validation_result.json 當報告附件索引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保留 mismatch CSV 供 reviewer 快速定位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2519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251960" y="1234440"/>
            <a:ext cx="73152" cy="2194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165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中期：強化 replay-based validation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4165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WF/CPCV 輸入改為 replay 產生的 fill/order/equity returns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所有 SWAP artifact 必須通過 authoritative ct_val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shadow/demo calibration 回寫 queue/latency/fill 參數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909560" y="1234440"/>
            <a:ext cx="34290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909560" y="1234440"/>
            <a:ext cx="73152" cy="2194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0741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長期：完整 Nautilus adapter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074152" y="1673352"/>
            <a:ext cx="3154680" cy="16642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若 user 恢復 order-book data plan，建立 Nautilus catalog 與 OKX adapter mapping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接 L2/L3 order book、order/fill events、funding cashflows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讓 execution-sensitive 策略能跑 queue-aware independent reference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85800" y="4114800"/>
            <a:ext cx="10561320" cy="7498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4B5F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960" b="1">
                <a:solidFill>
                  <a:srgbClr val="111827"/>
                </a:solidFill>
                <a:latin typeface="Aptos"/>
                <a:ea typeface="Microsoft JhengHei"/>
              </a:rPr>
              <a:t>Claude review questions：目前 signal strict scope 是否足以支撐 technical strategy promotion？非 technical strategy 應以哪些替代證據補足 external reference gap？Nautilus full adapter 的最小可驗收資料集要到 L2 還是 L3？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docs/backtest_live_parity_plan.md, docs/ai_collaboration.md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Validation Lab：本次報告口徑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低成本外部 reference，不是 live-ready 證明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1234440"/>
            <a:ext cx="34290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234440"/>
            <a:ext cx="73152" cy="1965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7" name="Shape 7"/>
          <p:cNvSpPr txBox="1"/>
          <p:nvPr/>
        </p:nvSpPr>
        <p:spPr>
          <a:xfrm>
            <a:off x="7589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正確說法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58952" y="1673352"/>
            <a:ext cx="3154680" cy="14356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用本專案 artifact 串 vectorbt / backtrader / Nautilus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主要驗證同資料、同參數、同規則下的 signal point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報告重點是可審計、可重跑、低成本的交叉驗證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251960" y="1234440"/>
            <a:ext cx="34290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251960" y="1234440"/>
            <a:ext cx="73152" cy="19659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44165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需要修正的誤解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416552" y="1673352"/>
            <a:ext cx="3154680" cy="14356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不是 TradingView 的一對一替代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不是外部 PnL 完全一致才叫通過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Nautilus v1 仍是 advisory，不是 full matching engine parity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909560" y="1234440"/>
            <a:ext cx="34290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909560" y="123444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8074152" y="1344168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通過代表什麼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074152" y="1673352"/>
            <a:ext cx="3154680" cy="143560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signal timing / side / action 有跨引擎一致性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source/provenance checks 在該 scope 沒有 hard fail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仍不代表可部署、可實盤、或績效可靠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85800" y="3840480"/>
            <a:ext cx="10561320" cy="82296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914400" y="3977639"/>
            <a:ext cx="101041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019" b="1">
                <a:solidFill>
                  <a:srgbClr val="111827"/>
                </a:solidFill>
                <a:latin typeface="Aptos"/>
                <a:ea typeface="Microsoft JhengHei"/>
              </a:rPr>
              <a:t>報告防呆句：Validation Lab PASS 是 signal-logic portability evidence；不驗證 raw exchange truth、queue/partial fills、fees/slippage/funding、WF/CPCV、shadow/demo 或 live readiness。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docs/validation_lab_report_zh.md, docs/ai_collaboration.md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資料正確性：已做與未做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目前先做 artifact-to-project-source provenance；跨交易所相對驗證仍待補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234440"/>
            <a:ext cx="214884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層級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2651760" y="1234440"/>
            <a:ext cx="27432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目前已實作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394960" y="1234440"/>
            <a:ext cx="274320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尚未完整實作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138160" y="1234440"/>
            <a:ext cx="3108960" cy="713232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報告判讀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502920" y="1947672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Artifact shape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2651760" y="1947672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price_series / required files / funding / external observations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394960" y="1947672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完整 tick/order-book shape 對照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8138160" y="1947672"/>
            <a:ext cx="3108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可證明回測輸入可讀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02920" y="2660904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Source provenance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2651760" y="2660904"/>
            <a:ext cx="27432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ct_val provenance / DB parity opt-in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5394960" y="2660904"/>
            <a:ext cx="27432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跨交易所 raw API truth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8138160" y="2660904"/>
            <a:ext cx="310896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DB parity 只證明 artifact 與 canonical DB 一致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502920" y="3374136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Market relativity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2651760" y="3374136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局部 Binance DB-backed PASS evidence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5394960" y="3374136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Binance vs OKX/Bybit close/funding 相對性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138160" y="3374136"/>
            <a:ext cx="3108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使用者說法方向正確，但目前仍是計畫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502920" y="4087368"/>
            <a:ext cx="214884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Execution data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2651760" y="4087368"/>
            <a:ext cx="27432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orders/fills/rejections/risk events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394960" y="4087368"/>
            <a:ext cx="274320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L2/L3 queue、partial fill、exchange adapter parity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138160" y="4087368"/>
            <a:ext cx="3108960" cy="71323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不得把 signal gate 解讀為 execution gate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31520" y="5074920"/>
            <a:ext cx="10469880" cy="50292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960120" y="5175504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已存在 source-provenance PASS evidence：results/adr0007_binance_btc_1h_db_pass_20260618/.../codex_close_only_db_parity_pass_20260618/validation_result.json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_source_data_validation(), docs/CURRENT_STATE.md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BTC/Binance 1H 實測結果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MA/EMA/MACD 都能 signal-to-order；修改前 MA/EMA exit 受 500 USD cap 影響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502920" y="1143000"/>
            <a:ext cx="146304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策略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965960" y="1143000"/>
            <a:ext cx="150876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參數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3474720" y="1143000"/>
            <a:ext cx="201168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verdict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486400" y="1143000"/>
            <a:ext cx="109728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signals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583680" y="1143000"/>
            <a:ext cx="132588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orders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909560" y="1143000"/>
            <a:ext cx="109728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fills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9006840" y="1143000"/>
            <a:ext cx="114300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reject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10149840" y="1143000"/>
            <a:ext cx="1280160" cy="585216"/>
          </a:xfrm>
          <a:prstGeom prst="rect">
            <a:avLst/>
          </a:prstGeom>
          <a:solidFill>
            <a:srgbClr val="334155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819" b="1">
                <a:solidFill>
                  <a:srgbClr val="FFFFFF"/>
                </a:solidFill>
                <a:latin typeface="Aptos"/>
                <a:ea typeface="Microsoft JhengHei"/>
              </a:rPr>
              <a:t>原因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02920" y="1728216"/>
            <a:ext cx="14630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MA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1965960" y="1728216"/>
            <a:ext cx="15087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10/200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3474720" y="1728216"/>
            <a:ext cx="20116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PASS_SIGNAL_TO_ORDER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5486400" y="1728216"/>
            <a:ext cx="10972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117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583680" y="1728216"/>
            <a:ext cx="13258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5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7909560" y="1728216"/>
            <a:ext cx="10972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31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9006840" y="1728216"/>
            <a:ext cx="11430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112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149840" y="1728216"/>
            <a:ext cx="12801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fat_finger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502920" y="2313432"/>
            <a:ext cx="146304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EMA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1965960" y="2313432"/>
            <a:ext cx="150876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10/200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3474720" y="2313432"/>
            <a:ext cx="201168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PASS_SIGNAL_TO_ORDER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486400" y="2313432"/>
            <a:ext cx="109728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127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6583680" y="2313432"/>
            <a:ext cx="132588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4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7909560" y="2313432"/>
            <a:ext cx="109728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22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9006840" y="2313432"/>
            <a:ext cx="114300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123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10149840" y="2313432"/>
            <a:ext cx="1280160" cy="5852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fat_finger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502920" y="2898648"/>
            <a:ext cx="14630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 b="1">
                <a:solidFill>
                  <a:srgbClr val="111827"/>
                </a:solidFill>
                <a:latin typeface="Aptos"/>
                <a:ea typeface="Microsoft JhengHei"/>
              </a:rPr>
              <a:t>MACD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1965960" y="2898648"/>
            <a:ext cx="15087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12/26/9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3474720" y="2898648"/>
            <a:ext cx="20116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PASS_SIGNAL_TO_ORDER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5486400" y="2898648"/>
            <a:ext cx="10972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779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6583680" y="2898648"/>
            <a:ext cx="13258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779</a:t>
            </a:r>
          </a:p>
        </p:txBody>
      </p:sp>
      <p:sp>
        <p:nvSpPr>
          <p:cNvPr id="34" name="Shape 34"/>
          <p:cNvSpPr txBox="1"/>
          <p:nvPr/>
        </p:nvSpPr>
        <p:spPr>
          <a:xfrm>
            <a:off x="7909560" y="2898648"/>
            <a:ext cx="10972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15</a:t>
            </a:r>
          </a:p>
        </p:txBody>
      </p:sp>
      <p:sp>
        <p:nvSpPr>
          <p:cNvPr id="35" name="Shape 35"/>
          <p:cNvSpPr txBox="1"/>
          <p:nvPr/>
        </p:nvSpPr>
        <p:spPr>
          <a:xfrm>
            <a:off x="9006840" y="2898648"/>
            <a:ext cx="11430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0</a:t>
            </a:r>
          </a:p>
        </p:txBody>
      </p:sp>
      <p:sp>
        <p:nvSpPr>
          <p:cNvPr id="36" name="Shape 36"/>
          <p:cNvSpPr txBox="1"/>
          <p:nvPr/>
        </p:nvSpPr>
        <p:spPr>
          <a:xfrm>
            <a:off x="10149840" y="2898648"/>
            <a:ext cx="12801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32004" tIns="32004" rIns="32004" bIns="32004">
            <a:spAutoFit/>
          </a:bodyPr>
          <a:lstStyle/>
          <a:p>
            <a:pPr algn="ctr"/>
            <a:r>
              <a:rPr lang="zh-TW" sz="780">
                <a:solidFill>
                  <a:srgbClr val="111827"/>
                </a:solidFill>
                <a:latin typeface="Aptos"/>
                <a:ea typeface="Microsoft JhengHei"/>
              </a:rPr>
              <a:t>none</a:t>
            </a:r>
          </a:p>
        </p:txBody>
      </p:sp>
      <p:sp>
        <p:nvSpPr>
          <p:cNvPr id="37" name="Shape 37"/>
          <p:cNvSpPr txBox="1"/>
          <p:nvPr/>
        </p:nvSpPr>
        <p:spPr>
          <a:xfrm>
            <a:off x="685800" y="379476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38" name="Shape 38"/>
          <p:cNvSpPr txBox="1"/>
          <p:nvPr/>
        </p:nvSpPr>
        <p:spPr>
          <a:xfrm>
            <a:off x="685800" y="379476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39" name="Shape 39"/>
          <p:cNvSpPr txBox="1"/>
          <p:nvPr/>
        </p:nvSpPr>
        <p:spPr>
          <a:xfrm>
            <a:off x="850392" y="390448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測試條件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850392" y="423367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BTC-USDT-SWAP / Binance / 1H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2024-01-01 到 2026-04-30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20,400 / 20,400 bars，coverage 1.0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4297680" y="379476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2" name="Shape 42"/>
          <p:cNvSpPr txBox="1"/>
          <p:nvPr/>
        </p:nvSpPr>
        <p:spPr>
          <a:xfrm>
            <a:off x="4297680" y="3794760"/>
            <a:ext cx="73152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3" name="Shape 43"/>
          <p:cNvSpPr txBox="1"/>
          <p:nvPr/>
        </p:nvSpPr>
        <p:spPr>
          <a:xfrm>
            <a:off x="4462272" y="390448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風控修正後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4462272" y="423367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250 USD cap 重跑：MA orders 5→117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MA rejections 112→0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1 次 bounded reduce-only bypass</a:t>
            </a:r>
          </a:p>
        </p:txBody>
      </p:sp>
      <p:sp>
        <p:nvSpPr>
          <p:cNvPr id="45" name="Shape 45"/>
          <p:cNvSpPr txBox="1"/>
          <p:nvPr/>
        </p:nvSpPr>
        <p:spPr>
          <a:xfrm>
            <a:off x="7909560" y="379476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6" name="Shape 46"/>
          <p:cNvSpPr txBox="1"/>
          <p:nvPr/>
        </p:nvSpPr>
        <p:spPr>
          <a:xfrm>
            <a:off x="7909560" y="3794760"/>
            <a:ext cx="73152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8074152" y="390448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限制</a:t>
            </a:r>
          </a:p>
        </p:txBody>
      </p:sp>
      <p:sp>
        <p:nvSpPr>
          <p:cNvPr id="48" name="Shape 48"/>
          <p:cNvSpPr txBox="1"/>
          <p:nvPr/>
        </p:nvSpPr>
        <p:spPr>
          <a:xfrm>
            <a:off x="8074152" y="423367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長區間三引擎 differential 本次未完成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vectorbt 單引擎也未在 60 秒內落地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需短 fixture 或 CLI profiling</a:t>
            </a:r>
          </a:p>
        </p:txBody>
      </p:sp>
      <p:sp>
        <p:nvSpPr>
          <p:cNvPr id="49" name="Shape 49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results/validation_lab_signal_order_check_20260622.json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2400" b="1">
                <a:solidFill>
                  <a:srgbClr val="111827"/>
                </a:solidFill>
                <a:latin typeface="Aptos"/>
                <a:ea typeface="Microsoft JhengHei"/>
              </a:rPr>
              <a:t>新手策略 Builder 路線圖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7" y="694944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950">
                <a:solidFill>
                  <a:srgbClr val="4B5563"/>
                </a:solidFill>
                <a:latin typeface="Aptos"/>
                <a:ea typeface="Microsoft JhengHei"/>
              </a:rPr>
              <a:t>不透過 GenAI：先做 no-code template，不開放任意 Python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9875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5" name="Shape 5"/>
          <p:cNvSpPr txBox="1"/>
          <p:nvPr/>
        </p:nvSpPr>
        <p:spPr>
          <a:xfrm>
            <a:off x="640080" y="1325880"/>
            <a:ext cx="50292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1</a:t>
            </a:r>
          </a:p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模板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85800" y="1938528"/>
            <a:ext cx="178308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MA / EMA / MACD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breakout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487168" y="2267712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8" name="Shape 8"/>
          <p:cNvSpPr txBox="1"/>
          <p:nvPr/>
        </p:nvSpPr>
        <p:spPr>
          <a:xfrm>
            <a:off x="2880360" y="1325880"/>
            <a:ext cx="502920" cy="50292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2</a:t>
            </a:r>
          </a:p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市場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2926080" y="1938528"/>
            <a:ext cx="178308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F766E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exchange / symbol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bar / date range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4727448" y="2267712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120640" y="1325880"/>
            <a:ext cx="50292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3</a:t>
            </a:r>
          </a:p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參數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166360" y="1938528"/>
            <a:ext cx="178308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7706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fast / slow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threshold / exits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967728" y="2267712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360920" y="132588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4</a:t>
            </a:r>
          </a:p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預覽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7406640" y="1938528"/>
            <a:ext cx="178308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indicator overlay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signal markers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9208008" y="2267712"/>
            <a:ext cx="256032" cy="182880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9601200" y="1325880"/>
            <a:ext cx="5029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5</a:t>
            </a:r>
          </a:p>
          <a:p>
            <a:pPr algn="ctr"/>
            <a:r>
              <a:rPr lang="zh-TW" sz="1100" b="1">
                <a:solidFill>
                  <a:srgbClr val="FFFFFF"/>
                </a:solidFill>
                <a:latin typeface="Aptos"/>
                <a:ea typeface="Microsoft JhengHei"/>
              </a:rPr>
              <a:t>驗證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9646920" y="1938528"/>
            <a:ext cx="1783080" cy="896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6A34A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Backtest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Validation Lab</a:t>
            </a:r>
          </a:p>
          <a:p>
            <a:pPr algn="ctr"/>
            <a:r>
              <a:rPr lang="zh-TW" sz="869" b="1">
                <a:solidFill>
                  <a:srgbClr val="111827"/>
                </a:solidFill>
                <a:latin typeface="Aptos"/>
                <a:ea typeface="Microsoft JhengHei"/>
              </a:rPr>
              <a:t>保存版本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685800" y="370332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3703320"/>
            <a:ext cx="7315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50392" y="381304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第一版要做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50392" y="414223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strategy spec schema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參數範圍與 lookahead guard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spec 轉既有 backtest request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297680" y="370332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297680" y="3703320"/>
            <a:ext cx="73152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4462272" y="381304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第一版不做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4462272" y="414223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任意 Python upload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一鍵 demo/live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沒有 reference contract 的 promotion path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7909560" y="3703320"/>
            <a:ext cx="33375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7909560" y="3703320"/>
            <a:ext cx="73152" cy="1234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anchor="ctr" lIns="54864" tIns="54864" rIns="54864" bIns="54864">
            <a:spAutoFit/>
          </a:bodyPr>
          <a:lstStyle/>
          <a:p>
            <a:pPr algn="ctr"/>
            <a:r>
              <a:rPr lang="zh-TW" sz="1200">
                <a:solidFill>
                  <a:srgbClr val="111827"/>
                </a:solidFill>
                <a:latin typeface="Aptos"/>
                <a:ea typeface="Microsoft JhengHei"/>
              </a:rPr>
              <a:t/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8074152" y="3813048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1300" b="1">
                <a:solidFill>
                  <a:srgbClr val="111827"/>
                </a:solidFill>
                <a:latin typeface="Aptos"/>
                <a:ea typeface="Microsoft JhengHei"/>
              </a:rPr>
              <a:t>成功標準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8074152" y="4142232"/>
            <a:ext cx="3063240" cy="704088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新手能生成可版本化 config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能看 signal-to-fill gap</a:t>
            </a:r>
          </a:p>
          <a:p>
            <a:pPr algn="l"/>
            <a:r>
              <a:rPr lang="zh-TW" sz="880">
                <a:solidFill>
                  <a:srgbClr val="4B5563"/>
                </a:solidFill>
                <a:latin typeface="Aptos"/>
                <a:ea typeface="Microsoft JhengHei"/>
              </a:rPr>
              <a:t>• 能跑 Validation Lab gate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502920" y="6455664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27432" tIns="27432" rIns="27432" bIns="27432">
            <a:spAutoFit/>
          </a:bodyPr>
          <a:lstStyle/>
          <a:p>
            <a:pPr algn="l"/>
            <a:r>
              <a:rPr lang="zh-TW" sz="640">
                <a:solidFill>
                  <a:srgbClr val="64748B"/>
                </a:solidFill>
                <a:latin typeface="Aptos"/>
                <a:ea typeface="Microsoft JhengHei"/>
              </a:rPr>
              <a:t>Source: docs/validation_lab_report_zh.md, docs/FEATURE_MAP.md, docs/UI_MAP.md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x Report Theme">
  <a:themeElements>
    <a:clrScheme name="Codex">
      <a:dk1>
        <a:srgbClr val="111827"/>
      </a:dk1>
      <a:lt1>
        <a:srgbClr val="FFFFFF"/>
      </a:lt1>
      <a:dk2>
        <a:srgbClr val="334155"/>
      </a:dk2>
      <a:lt2>
        <a:srgbClr val="F7F8FA"/>
      </a:lt2>
      <a:accent1>
        <a:srgbClr val="2563EB"/>
      </a:accent1>
      <a:accent2>
        <a:srgbClr val="0F766E"/>
      </a:accent2>
      <a:accent3>
        <a:srgbClr val="D97706"/>
      </a:accent3>
      <a:accent4>
        <a:srgbClr val="7C3AED"/>
      </a:accent4>
      <a:accent5>
        <a:srgbClr val="16A34A"/>
      </a:accent5>
      <a:accent6>
        <a:srgbClr val="DC2626"/>
      </a:accent6>
      <a:hlink>
        <a:srgbClr val="2563EB"/>
      </a:hlink>
      <a:folHlink>
        <a:srgbClr val="7C3AED"/>
      </a:folHlink>
    </a:clrScheme>
    <a:fontScheme name="Codex">
      <a:majorFont>
        <a:latin typeface="Aptos Display"/>
        <a:ea typeface="Microsoft JhengHei"/>
      </a:majorFont>
      <a:minorFont>
        <a:latin typeface="Aptos"/>
        <a:ea typeface="Microsoft JhengHei"/>
      </a:minorFont>
    </a:fontScheme>
    <a:fmtScheme name="Codex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 Generator</Application>
  <PresentationFormat>On-screen Show (16:9)</PresentationFormat>
  <Slides>16</Slides>
  <Notes>0</Notes>
  <HiddenSlides>0</HiddenSlides>
  <ScaleCrop>false</ScaleCrop>
  <Company>quant_strategy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外接回測系統與驗證架構統整</dc:title>
  <dc:creator>Codex</dc:creator>
  <cp:lastModifiedBy>Codex</cp:lastModifiedBy>
  <dcterms:created xsi:type="dcterms:W3CDTF">2026-06-22T13:23:10Z</dcterms:created>
  <dcterms:modified xsi:type="dcterms:W3CDTF">2026-06-22T13:23:10Z</dcterms:modified>
</cp:coreProperties>
</file>