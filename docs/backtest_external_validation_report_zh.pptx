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685800" y="347472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700" b="1">
                <a:solidFill>
                  <a:srgbClr val="FFFFFF"/>
                </a:solidFill>
                <a:latin typeface="Aptos"/>
                <a:ea typeface="Microsoft JhengHei"/>
              </a:rPr>
              <a:t>外接回測系統與驗證架構統整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13232" y="132588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700">
                <a:solidFill>
                  <a:srgbClr val="111827"/>
                </a:solidFill>
                <a:latin typeface="Aptos"/>
                <a:ea typeface="Microsoft JhengHei"/>
              </a:rPr>
              <a:t>vectorbt / backtrader / Nautilus：架構、參數、回測邏輯與目前驗證 Gate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713232" y="1993392"/>
            <a:ext cx="64922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100">
                <a:solidFill>
                  <a:srgbClr val="4B5563"/>
                </a:solidFill>
                <a:latin typeface="Aptos"/>
                <a:ea typeface="Microsoft JhengHei"/>
              </a:rPr>
              <a:t>Quant Strategy Repo｜2026-06-11｜報告用簡報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713232" y="2560320"/>
            <a:ext cx="1664208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50" b="1">
                <a:solidFill>
                  <a:srgbClr val="FFFFFF"/>
                </a:solidFill>
                <a:latin typeface="Aptos"/>
                <a:ea typeface="Microsoft JhengHei"/>
              </a:rPr>
              <a:t>Signal Logic Gate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2679191" y="2560320"/>
            <a:ext cx="1664208" cy="25603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50" b="1">
                <a:solidFill>
                  <a:srgbClr val="FFFFFF"/>
                </a:solidFill>
                <a:latin typeface="Aptos"/>
                <a:ea typeface="Microsoft JhengHei"/>
              </a:rPr>
              <a:t>Advisory PnL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645152" y="2560320"/>
            <a:ext cx="1664208" cy="25603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50" b="1">
                <a:solidFill>
                  <a:srgbClr val="FFFFFF"/>
                </a:solidFill>
                <a:latin typeface="Aptos"/>
                <a:ea typeface="Microsoft JhengHei"/>
              </a:rPr>
              <a:t>ct_val / WF / CPCV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13232" y="3154680"/>
            <a:ext cx="347472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713232" y="3154680"/>
            <a:ext cx="73152" cy="1920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877824" y="3264408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本簡報回答三件事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877824" y="3593592"/>
            <a:ext cx="320040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三套外接回測系統目前在 repo 中扮演的角色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各引擎吃哪些 artifact / 參數，如何產生信號、交易與 equity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目前驗證流程如何做 gate，以及哪些結果只能 advisory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4434840" y="3154680"/>
            <a:ext cx="347472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4434840" y="3154680"/>
            <a:ext cx="73152" cy="1920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4599432" y="3264408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最重要的界線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4599432" y="3593592"/>
            <a:ext cx="320040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technical 指標策略只把 signal logic 當 strict gate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PnL / trade / metrics mismatch 目前可被審查引用，但不是自動 gate fail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Nautilus v1 是匯出/重播 evidence，尚未跑完整 matching engine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8156448" y="3154680"/>
            <a:ext cx="297180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8156448" y="3154680"/>
            <a:ext cx="73152" cy="1920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8321040" y="3264408"/>
            <a:ext cx="2697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部署聲明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8321040" y="3593592"/>
            <a:ext cx="269748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這份報告不宣稱任何策略可 live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demo/shadow/live 仍需通過協作文件列出的所有 gate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使用者明確批准前不得升級風險模式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一頁結論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目前外部 reference engine 的分工與可用性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48640" y="1234440"/>
            <a:ext cx="34290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6" name="Shape 6"/>
          <p:cNvSpPr txBox="1"/>
          <p:nvPr/>
        </p:nvSpPr>
        <p:spPr>
          <a:xfrm>
            <a:off x="548640" y="123444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7" name="Shape 7"/>
          <p:cNvSpPr txBox="1"/>
          <p:nvPr/>
        </p:nvSpPr>
        <p:spPr>
          <a:xfrm>
            <a:off x="71323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vectorbt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13232" y="1673352"/>
            <a:ext cx="315468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最快速的 vectorized reference / scanner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technical 策略可重算 SMA/EMA/MACD crossover signal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使用 Portfolio.from_signals 產生 equity，但 PnL semantics advisory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370832" y="1234440"/>
            <a:ext cx="34290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4370832" y="1234440"/>
            <a:ext cx="73152" cy="18288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4535424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backtrader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4535424" y="1673352"/>
            <a:ext cx="315468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事件驅動 reference path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TechnicalStrategy.next() 逐 bar 更新指標 state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Market order / broker equity 可供對照，但 v1 不作嚴格 PnL gate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8193024" y="1234440"/>
            <a:ext cx="34290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8193024" y="123444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8357616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Nautilus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8357616" y="1673352"/>
            <a:ext cx="315468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高保真 L2 / queue-aware 目標框架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目前 differential validation 只做 artifact replay/export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engine_execution = not_run，無法通過 independent portable gate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594360" y="3520440"/>
            <a:ext cx="10972800" cy="1417320"/>
          </a:xfrm>
          <a:prstGeom prst="round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777240" y="3685032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400" b="1">
                <a:solidFill>
                  <a:srgbClr val="0F766E"/>
                </a:solidFill>
                <a:latin typeface="Aptos"/>
                <a:ea typeface="Microsoft JhengHei"/>
              </a:rPr>
              <a:t>目前 Gate 判讀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777240" y="4069080"/>
            <a:ext cx="10378440" cy="62179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050">
                <a:solidFill>
                  <a:srgbClr val="111827"/>
                </a:solidFill>
                <a:latin typeface="Aptos"/>
                <a:ea typeface="Microsoft JhengHei"/>
              </a:rPr>
              <a:t>technical_indicator 策略（ma_crossover / ema_crossover / macd_crossover）需要至少一個 vectorbt 或 backtrader 的 signal_logic PASS，且 actionable_mismatch_count = 0。其他策略與 Nautilus v1 目前多為 advisory replay/export，不能單獨作 promotion evidence。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backtesting/differential_validation.py, docs/ai_collaboration.md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三引擎定位矩陣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相同 artifact bundle，三種 reference 行為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02920" y="1234440"/>
            <a:ext cx="114300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引擎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645920" y="1234440"/>
            <a:ext cx="196596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目前 role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3611880" y="1234440"/>
            <a:ext cx="228600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主要 mode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5897880" y="1234440"/>
            <a:ext cx="233172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Gate 影響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8229600" y="1234440"/>
            <a:ext cx="301752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主要限制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502920" y="1947672"/>
            <a:ext cx="1143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vectorbt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1645920" y="1947672"/>
            <a:ext cx="19659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reference_signals_only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(technical)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3611880" y="1947672"/>
            <a:ext cx="2286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technical_indicator_recompute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artifact_signal_replay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897880" y="1947672"/>
            <a:ext cx="23317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technical signal_logic 可 PASS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非 technical advisory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8229600" y="1947672"/>
            <a:ext cx="3017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費用設 0；PnL/equity/metrics 不作嚴格 gate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502920" y="2660904"/>
            <a:ext cx="114300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backtrader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1645920" y="2660904"/>
            <a:ext cx="196596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reference_signals_only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(technical)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3611880" y="2660904"/>
            <a:ext cx="228600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technical_indicator_recompute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artifact_signal_replay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5897880" y="2660904"/>
            <a:ext cx="233172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technical signal_logic 可 PASS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order/PnL advisory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8229600" y="2660904"/>
            <a:ext cx="301752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market order semantics 與專案撮合模型不等價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502920" y="3374136"/>
            <a:ext cx="1143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Nautilus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1645920" y="3374136"/>
            <a:ext cx="19659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advisory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611880" y="3374136"/>
            <a:ext cx="2286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nautilus_artifact_replay_export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897880" y="3374136"/>
            <a:ext cx="23317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不能讓 portable gate 通過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229600" y="3374136"/>
            <a:ext cx="3017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v1 不跑 Nautilus matching engine；需 L2/L3 catalog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731520" y="4572000"/>
            <a:ext cx="10469880" cy="868680"/>
          </a:xfrm>
          <a:prstGeom prst="roundRect">
            <a:avLst/>
          </a:prstGeom>
          <a:solidFill>
            <a:srgbClr val="FFF7ED"/>
          </a:solidFill>
          <a:ln w="9525">
            <a:solidFill>
              <a:srgbClr val="FDBA74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932688" y="4681728"/>
            <a:ext cx="10012680" cy="53035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030">
                <a:solidFill>
                  <a:srgbClr val="111827"/>
                </a:solidFill>
                <a:latin typeface="Aptos"/>
                <a:ea typeface="Microsoft JhengHei"/>
              </a:rPr>
              <a:t>判讀規則：strict signal logic 僅涵蓋 indicator/signal 方向與時序；trade_execution、pnl_semantics、metrics 為 advisory scope，但 reviewer 仍可用非零 mismatch count 暫緩或拒絕 promotion ADR。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REFERENCE_VALIDATION_CONTRACTS, compare_reference() scoped summaries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外部差異驗證架構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從既有回測 artifact 到 reference output 與 mismatch tables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658368" y="1417320"/>
            <a:ext cx="20574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Backtest Artifact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Bundle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result / price / signals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trades / fills / equity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3154680" y="1417320"/>
            <a:ext cx="20116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Contract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Selection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strategy class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required artifacts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engine roles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596128" y="1417320"/>
            <a:ext cx="21488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770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Reference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Adapters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vectorbt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backtrader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nautilus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156448" y="1417320"/>
            <a:ext cx="233172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C3AED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Normalized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Reference Outputs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signals / trades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equity / metrics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2724912" y="1746504"/>
            <a:ext cx="292608" cy="201168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5193792" y="1746504"/>
            <a:ext cx="292608" cy="201168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7754112" y="1746504"/>
            <a:ext cx="292608" cy="201168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3749039" y="2880360"/>
            <a:ext cx="2240280" cy="749808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A5B4FC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000" b="1">
                <a:solidFill>
                  <a:srgbClr val="111827"/>
                </a:solidFill>
                <a:latin typeface="Aptos"/>
                <a:ea typeface="Microsoft JhengHei"/>
              </a:rPr>
              <a:t>Comparator</a:t>
            </a:r>
          </a:p>
          <a:p>
            <a:pPr algn="ctr"/>
            <a:r>
              <a:rPr lang="zh-TW" sz="1000" b="1">
                <a:solidFill>
                  <a:srgbClr val="111827"/>
                </a:solidFill>
                <a:latin typeface="Aptos"/>
                <a:ea typeface="Microsoft JhengHei"/>
              </a:rPr>
              <a:t>indicator / signal / trade / PnL / metrics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629400" y="2331720"/>
            <a:ext cx="237744" cy="566928"/>
          </a:xfrm>
          <a:prstGeom prst="down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6263640" y="3127248"/>
            <a:ext cx="320040" cy="164592"/>
          </a:xfrm>
          <a:prstGeom prst="lef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658368" y="4343400"/>
            <a:ext cx="233172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5EEAD4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source_data_validation</a:t>
            </a:r>
          </a:p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OHLCV / required files</a:t>
            </a:r>
          </a:p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ct_val / funding / DB parity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3337560" y="4343400"/>
            <a:ext cx="233172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validation_result.json</a:t>
            </a:r>
          </a:p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status / gates / conclusion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016752" y="4343400"/>
            <a:ext cx="233172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mismatches_*.csv</a:t>
            </a:r>
          </a:p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indicators / signals</a:t>
            </a:r>
          </a:p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trades / pnl / metrics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8686800" y="4343400"/>
            <a:ext cx="233172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API / UI</a:t>
            </a:r>
          </a:p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strategy-validation</a:t>
            </a:r>
          </a:p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view-validation.js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2999232" y="4608576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5669280" y="4608576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8339327" y="4608576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run_differential_validation(), _write_reference_artifacts(), routes_backtest.py, frontend/view-validation.js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vectorbt：架構、參數與回測邏輯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快速 vectorized reference；technical signal strict，PnL advisory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66928" y="1298448"/>
            <a:ext cx="178308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price_series.csv</a:t>
            </a:r>
          </a:p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close series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2377440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7" name="Shape 7"/>
          <p:cNvSpPr txBox="1"/>
          <p:nvPr/>
        </p:nvSpPr>
        <p:spPr>
          <a:xfrm>
            <a:off x="2779776" y="1298448"/>
            <a:ext cx="178308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SMA / EMA / MACD</a:t>
            </a:r>
          </a:p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indicator recompute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4590288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9" name="Shape 9"/>
          <p:cNvSpPr txBox="1"/>
          <p:nvPr/>
        </p:nvSpPr>
        <p:spPr>
          <a:xfrm>
            <a:off x="4992624" y="1298448"/>
            <a:ext cx="178308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770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crossover</a:t>
            </a:r>
          </a:p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buy / sell signals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803136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7205472" y="1298448"/>
            <a:ext cx="178308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C3AED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Portfolio.from_signals</a:t>
            </a:r>
          </a:p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entries / exits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9015984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9418319" y="1298448"/>
            <a:ext cx="178308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6A34A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reference_* artifacts</a:t>
            </a:r>
          </a:p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metrics advisory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94360" y="2514600"/>
            <a:ext cx="35204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594360" y="2514600"/>
            <a:ext cx="73152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758952" y="2624328"/>
            <a:ext cx="3246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核心參數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758952" y="2953512"/>
            <a:ext cx="324612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strategy params: fast_window/slow_window, fast_span/slow_span, MACD 12/26/9 預設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init_cash = bundle.initial_equity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fees = 0.0；freq = bar 對應年化頻率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required: result.json, price_series.csv, signals.csv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4370832" y="2514600"/>
            <a:ext cx="35204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4370832" y="2514600"/>
            <a:ext cx="73152" cy="1920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4535424" y="2624328"/>
            <a:ext cx="3246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Signal 邏輯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535424" y="2953512"/>
            <a:ext cx="324612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warmup 後檢查 prev_fast &lt;= prev_slow 且 cur_fast &gt; cur_slow → buy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prev_fast &gt;= prev_slow 且 cur_fast &lt; cur_slow → sell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若 artifact trades 有 size_after，使用 execution position 判斷是否已在倉位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156448" y="2514600"/>
            <a:ext cx="315468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8156448" y="2514600"/>
            <a:ext cx="73152" cy="1920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321040" y="2624328"/>
            <a:ext cx="28803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研究掃描補充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321040" y="2953512"/>
            <a:ext cx="288036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vectorbt_scanner.py 用於快速參數掃描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AS: gamma / kappa / c_alpha / commission_pct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Funding: APR threshold / entry fee proxy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VectorBTReferenceAdapter, _technical_reference_signals(), backtesting/vectorbt_scanner.py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backtrader：架構、參數與回測邏輯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事件驅動 technical reference；signal timing strict，order/PnL advisory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66928" y="1261872"/>
            <a:ext cx="17830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price_series.csv</a:t>
            </a:r>
          </a:p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OHLCV → PandasData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2377440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7" name="Shape 7"/>
          <p:cNvSpPr txBox="1"/>
          <p:nvPr/>
        </p:nvSpPr>
        <p:spPr>
          <a:xfrm>
            <a:off x="2779776" y="1261872"/>
            <a:ext cx="17830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bt.Cerebro</a:t>
            </a:r>
          </a:p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setcash(initial_equity)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4590288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9" name="Shape 9"/>
          <p:cNvSpPr txBox="1"/>
          <p:nvPr/>
        </p:nvSpPr>
        <p:spPr>
          <a:xfrm>
            <a:off x="4992624" y="1261872"/>
            <a:ext cx="17830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770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TechnicalStrategy.next()</a:t>
            </a:r>
          </a:p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update indicator state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803136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7205472" y="1261872"/>
            <a:ext cx="17830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C3AED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buy/sell market orders</a:t>
            </a:r>
          </a:p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notify_order/trade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9015984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9418319" y="1261872"/>
            <a:ext cx="17830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6A34A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signals / trades / equity</a:t>
            </a:r>
          </a:p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compare scopes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94360" y="2578608"/>
            <a:ext cx="342900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594360" y="2578608"/>
            <a:ext cx="73152" cy="1920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758952" y="2688336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核心設定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758952" y="3017520"/>
            <a:ext cx="315468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dependency: backtrader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bt.Cerebro(stdstats=False)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broker.setcash(bundle.initial_equity)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PandasData: open/high/low/close/volume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4251960" y="2578608"/>
            <a:ext cx="342900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4251960" y="2578608"/>
            <a:ext cx="73152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4416552" y="2688336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策略參數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16552" y="3017520"/>
            <a:ext cx="315468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MA: fast_window=20, slow_window=50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EMA: fast_span=20, slow_span=50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MACD: fast_span=12, slow_span=26, signal_span=9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warmup = slow 或 slow+signal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7909560" y="2578608"/>
            <a:ext cx="342900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7909560" y="2578608"/>
            <a:ext cx="73152" cy="1920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074152" y="2688336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Gate 意義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074152" y="3017520"/>
            <a:ext cx="315468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reference_role = reference_signals_only for technical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strict scope: signal_logic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order_semantics = backtrader_market_orders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PnL / equity / metrics 仍為 advisory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BacktraderReferenceAdapter, _run_backtrader_technical_reference()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Nautilus：目前 v1 與目標高保真路徑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Nautilus 是 queue-aware 目標框架；目前 validation adapter 尚未跑 engine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658368" y="1298448"/>
            <a:ext cx="489204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770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6" name="Shape 6"/>
          <p:cNvSpPr txBox="1"/>
          <p:nvPr/>
        </p:nvSpPr>
        <p:spPr>
          <a:xfrm>
            <a:off x="868680" y="1481328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D97706"/>
                </a:solidFill>
                <a:latin typeface="Aptos"/>
                <a:ea typeface="Microsoft JhengHei"/>
              </a:rPr>
              <a:t>目前 differential validation v1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868680" y="1874519"/>
            <a:ext cx="443484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69">
                <a:solidFill>
                  <a:srgbClr val="111827"/>
                </a:solidFill>
                <a:latin typeface="Aptos"/>
                <a:ea typeface="Microsoft JhengHei"/>
              </a:rPr>
              <a:t>artifact signals → _simulate_long_flat_trades → reference_nautilus_signals/trades/equity_curve.csv → export_manifest.json</a:t>
            </a:r>
          </a:p>
          <a:p>
            <a:pPr algn="l"/>
            <a:r>
              <a:rPr lang="zh-TW" sz="969">
                <a:solidFill>
                  <a:srgbClr val="111827"/>
                </a:solidFill>
                <a:latin typeface="Aptos"/>
                <a:ea typeface="Microsoft JhengHei"/>
              </a:rPr>
              <a:t>engine_execution = not_run；reference_role = advisory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6400800" y="1298448"/>
            <a:ext cx="489204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9" name="Shape 9"/>
          <p:cNvSpPr txBox="1"/>
          <p:nvPr/>
        </p:nvSpPr>
        <p:spPr>
          <a:xfrm>
            <a:off x="6611112" y="1481328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0F766E"/>
                </a:solidFill>
                <a:latin typeface="Aptos"/>
                <a:ea typeface="Microsoft JhengHei"/>
              </a:rPr>
              <a:t>目標高保真路徑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611112" y="1874519"/>
            <a:ext cx="443484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69">
                <a:solidFill>
                  <a:srgbClr val="111827"/>
                </a:solidFill>
                <a:latin typeface="Aptos"/>
                <a:ea typeface="Microsoft JhengHei"/>
              </a:rPr>
              <a:t>Nautilus catalog + L2/L3 order book + order/fill events + funding cashflows → OKX venue / matching engine → queue-aware fills / post-only / book walk / settlement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715000" y="2011680"/>
            <a:ext cx="502920" cy="27432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58368" y="3657600"/>
            <a:ext cx="4892040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58368" y="3657600"/>
            <a:ext cx="73152" cy="14447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822960" y="3767328"/>
            <a:ext cx="46177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skeleton runner 參數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822960" y="4096512"/>
            <a:ext cx="461772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data_dir=data/ticks, inst_id=BTC-USDT-SWAP, start/end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AS MM params: gamma=0.1, kappa=1.5, c_alpha=100.0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OKX venue, NETTING, MARGIN, 10,000 USDT starting balance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6400800" y="3657600"/>
            <a:ext cx="4892040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400800" y="3657600"/>
            <a:ext cx="73152" cy="14447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6565392" y="3767328"/>
            <a:ext cx="46177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目前限制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6565392" y="4096512"/>
            <a:ext cx="461772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full Nautilus integration requires OKX adapter + Parquet catalog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尚未驗證 order-book queue priority、partial fill、funding settlement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不能作 live readiness 或 promotion evidence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NautilusReferenceAdapter, backtesting/nautilus_backtest.py, docs/backtest_live_parity_plan.md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策略範圍與參數摘要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哪些策略可以 independent signal reference，哪些仍是 advisory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02920" y="1170432"/>
            <a:ext cx="182880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策略類型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2331720" y="1170432"/>
            <a:ext cx="214884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策略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4480560" y="1170432"/>
            <a:ext cx="370332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外部引擎狀態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183880" y="1170432"/>
            <a:ext cx="306324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Gate 判讀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502920" y="1883664"/>
            <a:ext cx="18288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Technical indicator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2331720" y="1883664"/>
            <a:ext cx="2148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ma_crossover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ema_crossover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macd_crossover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4480560" y="1883664"/>
            <a:ext cx="37033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vectorbt/backtrader: implemented reference_signals_only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Nautilus: advisory export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8183880" y="1883664"/>
            <a:ext cx="3063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至少 1 個 vectorbt/backtrader signal_logic PASS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02920" y="2596896"/>
            <a:ext cx="182880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Carry / stat arb / rotation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2331720" y="2596896"/>
            <a:ext cx="214884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funding_carry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pairs_trading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ohlcv_rotation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4480560" y="2596896"/>
            <a:ext cx="370332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三引擎多為 artifact_signal_replay / advisory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8183880" y="2596896"/>
            <a:ext cx="306324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不能單獨作 promotion evidence；需完整 adapter 或替代驗證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502920" y="3310128"/>
            <a:ext cx="18288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Validation-only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2331720" y="3310128"/>
            <a:ext cx="2148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daily_winner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4480560" y="3310128"/>
            <a:ext cx="37033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artifact replay / advisory 或 not applicable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8183880" y="3310128"/>
            <a:ext cx="3063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僅驗證 DB 聚合與 artifact 串接；不得 live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502920" y="4023360"/>
            <a:ext cx="182880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Execution-sensitive MM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2331720" y="4023360"/>
            <a:ext cx="214884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as_market_maker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obi_market_maker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4480560" y="4023360"/>
            <a:ext cx="370332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Nautilus advisory export；vectorbt/backtrader OHLC replay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183880" y="4023360"/>
            <a:ext cx="306324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需要 L2/L3 queue-aware replay 才可討論高保真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685800" y="5285232"/>
            <a:ext cx="10744200" cy="50292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50" b="1">
                <a:solidFill>
                  <a:srgbClr val="111827"/>
                </a:solidFill>
                <a:latin typeface="Aptos"/>
                <a:ea typeface="Microsoft JhengHei"/>
              </a:rPr>
              <a:t>關鍵參數來源：strategy_params 來自 result/config；不得依 chat memory 改變策略假設。新增策略必須宣告 Reference portability contract，否則不得進入 review/demo/shadow。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docs/ai_collaboration.md 新策略接入規範, REFERENCE_VALIDATION_CONTRACTS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目前回測系統驗證方式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source data checks + external reference + scoped mismatch + gate conclusion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02920" y="1325880"/>
            <a:ext cx="502920" cy="5029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1</a:t>
            </a:r>
          </a:p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回測產物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594360" y="1938528"/>
            <a:ext cx="1874519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result.json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price_series.csv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signals/trades/fills/equity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2514600" y="2331720"/>
            <a:ext cx="292608" cy="201168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8" name="Shape 8"/>
          <p:cNvSpPr txBox="1"/>
          <p:nvPr/>
        </p:nvSpPr>
        <p:spPr>
          <a:xfrm>
            <a:off x="2834639" y="1325880"/>
            <a:ext cx="502920" cy="5029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2</a:t>
            </a:r>
          </a:p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資料檢查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2926079" y="1938528"/>
            <a:ext cx="1874519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required artifacts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OHLCV 結構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ct_val / funding / DB parity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4846319" y="2331720"/>
            <a:ext cx="292608" cy="201168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166359" y="1325880"/>
            <a:ext cx="5029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3</a:t>
            </a:r>
          </a:p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外部引擎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5257799" y="1938528"/>
            <a:ext cx="1874519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770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vectorbt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backtrader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nautilus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178039" y="2331720"/>
            <a:ext cx="292608" cy="201168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7498079" y="1325880"/>
            <a:ext cx="50292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4</a:t>
            </a:r>
          </a:p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比較 scopes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7589519" y="1938528"/>
            <a:ext cx="1874519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C3AED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indicator_values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signal_logic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trade / pnl / metrics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9509759" y="2331720"/>
            <a:ext cx="292608" cy="201168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9829800" y="1325880"/>
            <a:ext cx="502920" cy="502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5</a:t>
            </a:r>
          </a:p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Gate / 結論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9921240" y="1938528"/>
            <a:ext cx="1874519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6A34A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signal_logic_gate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portable_validation_gate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validation_conclusion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640080" y="3703320"/>
            <a:ext cx="3337560" cy="11430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111827"/>
                </a:solidFill>
                <a:latin typeface="Aptos"/>
                <a:ea typeface="Microsoft JhengHei"/>
              </a:rPr>
              <a:t>輸出檔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896112" y="4096512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validation_result.json</a:t>
            </a:r>
          </a:p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reference_&lt;engine&gt;_*.csv</a:t>
            </a:r>
          </a:p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mismatches_*.csv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43984" y="3703320"/>
            <a:ext cx="3337560" cy="11430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111827"/>
                </a:solidFill>
                <a:latin typeface="Aptos"/>
                <a:ea typeface="Microsoft JhengHei"/>
              </a:rPr>
              <a:t>CLI / API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4700016" y="4096512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scripts/run_differential_validation.py</a:t>
            </a:r>
          </a:p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POST /strategy-validation/run</a:t>
            </a:r>
          </a:p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POST /{run_id}/differential-validation/run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8247888" y="3703320"/>
            <a:ext cx="2971800" cy="11430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111827"/>
                </a:solidFill>
                <a:latin typeface="Aptos"/>
                <a:ea typeface="Microsoft JhengHei"/>
              </a:rPr>
              <a:t>UI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503920" y="4096512"/>
            <a:ext cx="26060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view-validation.js</a:t>
            </a:r>
          </a:p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engine role / mismatch count</a:t>
            </a:r>
          </a:p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advisory tooltips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_source_data_validation(), compare_reference(), run_differential_validation(), routes_backtest.py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Deployment Gate 關係圖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Differential validation 只是其中一個必過項，不取代 WF/CPCV 或風控 gate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1115568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Historical artifact</a:t>
            </a:r>
          </a:p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validation_status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3044952" y="1472184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7" name="Shape 7"/>
          <p:cNvSpPr txBox="1"/>
          <p:nvPr/>
        </p:nvSpPr>
        <p:spPr>
          <a:xfrm>
            <a:off x="3474720" y="1115568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262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Idealized-fill</a:t>
            </a:r>
          </a:p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排除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5833872" y="1472184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9" name="Shape 9"/>
          <p:cNvSpPr txBox="1"/>
          <p:nvPr/>
        </p:nvSpPr>
        <p:spPr>
          <a:xfrm>
            <a:off x="6263640" y="1115568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Differential validation</a:t>
            </a:r>
          </a:p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technical signal strict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8622792" y="1472184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9052559" y="1115568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ct_val provenance</a:t>
            </a:r>
          </a:p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SWAP 必過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1828800" y="2148839"/>
            <a:ext cx="219456" cy="402336"/>
          </a:xfrm>
          <a:prstGeom prst="down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2715768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770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Walk-forward / CPCV</a:t>
            </a:r>
          </a:p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DSR &amp; PSR ≥ 0.95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3044952" y="3072384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3474720" y="2715768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C3AED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Replay / shadow / demo</a:t>
            </a:r>
          </a:p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fill/order/equity/fees/funding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5833872" y="3072384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263640" y="2715768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6A34A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User approval</a:t>
            </a:r>
          </a:p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才可升級風險模式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731520" y="4892040"/>
            <a:ext cx="10607040" cy="685800"/>
          </a:xfrm>
          <a:prstGeom prst="roundRect">
            <a:avLst/>
          </a:prstGeom>
          <a:solidFill>
            <a:srgbClr val="FEE2E2"/>
          </a:solidFill>
          <a:ln w="9525">
            <a:solidFill>
              <a:srgbClr val="FCA5A5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硬規則：未通過這些 gate 與使用者批准前，不得宣稱策略 ready for live。Differential validation PASS 也只代表特定 reference scope，不代表成交、資金費、成本模型或實盤風險已驗證。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docs/ai_collaboration.md 回測正確性 Gate / 部署 Gate / ct_val 來源檢查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目前操作入口與既有 artifact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報告對應到 repo 內可查的 CLI、API、UI 與 results 目錄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94360" y="1234440"/>
            <a:ext cx="34290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6" name="Shape 6"/>
          <p:cNvSpPr txBox="1"/>
          <p:nvPr/>
        </p:nvSpPr>
        <p:spPr>
          <a:xfrm>
            <a:off x="594360" y="123444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7" name="Shape 7"/>
          <p:cNvSpPr txBox="1"/>
          <p:nvPr/>
        </p:nvSpPr>
        <p:spPr>
          <a:xfrm>
            <a:off x="7589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CLI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58952" y="1673352"/>
            <a:ext cx="315468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python scripts/run_differential_validation.py --run-id &lt;id&gt;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--strategy &lt;name&gt; --fixture-run-id &lt;id&gt;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--engines vectorbt,backtrader,nautilus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--validation-id &lt;stable_id&gt;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251960" y="1234440"/>
            <a:ext cx="34290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4251960" y="1234440"/>
            <a:ext cx="73152" cy="18288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44165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API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4416552" y="1673352"/>
            <a:ext cx="315468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POST /strategy-validation/run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GET /strategy-validation/contracts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POST /{run_id}/differential-validation/run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GET artifact endpoints for mismatch/reference files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909560" y="1234440"/>
            <a:ext cx="34290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7909560" y="123444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80741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UI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8074152" y="1673352"/>
            <a:ext cx="315468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Validation view exposes engine roles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Signals strict；Indicators/Trades/PnL/Metrics advisory labels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Reviewer guardrail explains PASS scope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Mismatch preview reads mismatches_*.csv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58368" y="3703320"/>
            <a:ext cx="1065276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868680" y="3822191"/>
            <a:ext cx="1014984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250" b="1">
                <a:solidFill>
                  <a:srgbClr val="111827"/>
                </a:solidFill>
                <a:latin typeface="Aptos"/>
                <a:ea typeface="Microsoft JhengHei"/>
              </a:rPr>
              <a:t>目前 results/strategy_validation 下可見策略目錄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868680" y="4169663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69">
                <a:solidFill>
                  <a:srgbClr val="4B5563"/>
                </a:solidFill>
                <a:latin typeface="Aptos"/>
                <a:ea typeface="Microsoft JhengHei"/>
              </a:rPr>
              <a:t>daily_winner、macd_crossover、ma_crossover。既有 artifacts 可能早於最新欄位要求；若要作 promotion evidence，technical 策略需重跑並確認 validation_result.json 含必要 gate 欄位。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scripts/run_differential_validation.py, routes_backtest.py, frontend/view-validation.js, results/strategy_validation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建議下一步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把外部驗證從「可重播」推進到「可作 promotion evidence」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94360" y="1234440"/>
            <a:ext cx="342900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6" name="Shape 6"/>
          <p:cNvSpPr txBox="1"/>
          <p:nvPr/>
        </p:nvSpPr>
        <p:spPr>
          <a:xfrm>
            <a:off x="594360" y="1234440"/>
            <a:ext cx="73152" cy="2194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7" name="Shape 7"/>
          <p:cNvSpPr txBox="1"/>
          <p:nvPr/>
        </p:nvSpPr>
        <p:spPr>
          <a:xfrm>
            <a:off x="7589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短期：驗證產物一致化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58952" y="1673352"/>
            <a:ext cx="3154680" cy="166420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重跑 legacy ma/macd artifacts，補齊 source_data_validation / validation_conclusion / portable_validation_gate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把 validation_result.json 當報告附件索引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保留 mismatch CSV 供 reviewer 快速定位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251960" y="1234440"/>
            <a:ext cx="342900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4251960" y="1234440"/>
            <a:ext cx="73152" cy="2194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44165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中期：強化 replay-based validation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4416552" y="1673352"/>
            <a:ext cx="3154680" cy="166420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WF/CPCV 輸入改為 replay 產生的 fill/order/equity returns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所有 SWAP artifact 必須通過 authoritative ct_val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shadow/demo calibration 回寫 queue/latency/fill 參數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909560" y="1234440"/>
            <a:ext cx="342900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7909560" y="1234440"/>
            <a:ext cx="73152" cy="2194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80741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長期：完整 Nautilus adapter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8074152" y="1673352"/>
            <a:ext cx="3154680" cy="166420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建立 Nautilus catalog 與 OKX adapter mapping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接 L2/L3 order book、order/fill events、funding cashflows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讓 execution-sensitive 策略能跑 queue-aware independent reference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85800" y="4114800"/>
            <a:ext cx="10561320" cy="749808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4B5FD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60" b="1">
                <a:solidFill>
                  <a:srgbClr val="111827"/>
                </a:solidFill>
                <a:latin typeface="Aptos"/>
                <a:ea typeface="Microsoft JhengHei"/>
              </a:rPr>
              <a:t>Claude review questions：目前 signal strict scope 是否足以支撐 technical strategy promotion？非 technical strategy 應以哪些替代證據補足 external reference gap？Nautilus full adapter 的最小可驗收資料集要到 L2 還是 L3？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docs/backtest_live_parity_plan.md, docs/ai_collaboration.md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x Report Theme">
  <a:themeElements>
    <a:clrScheme name="Codex">
      <a:dk1>
        <a:srgbClr val="111827"/>
      </a:dk1>
      <a:lt1>
        <a:srgbClr val="FFFFFF"/>
      </a:lt1>
      <a:dk2>
        <a:srgbClr val="334155"/>
      </a:dk2>
      <a:lt2>
        <a:srgbClr val="F7F8FA"/>
      </a:lt2>
      <a:accent1>
        <a:srgbClr val="2563EB"/>
      </a:accent1>
      <a:accent2>
        <a:srgbClr val="0F766E"/>
      </a:accent2>
      <a:accent3>
        <a:srgbClr val="D97706"/>
      </a:accent3>
      <a:accent4>
        <a:srgbClr val="7C3AED"/>
      </a:accent4>
      <a:accent5>
        <a:srgbClr val="16A34A"/>
      </a:accent5>
      <a:accent6>
        <a:srgbClr val="DC2626"/>
      </a:accent6>
      <a:hlink>
        <a:srgbClr val="2563EB"/>
      </a:hlink>
      <a:folHlink>
        <a:srgbClr val="7C3AED"/>
      </a:folHlink>
    </a:clrScheme>
    <a:fontScheme name="Codex">
      <a:majorFont>
        <a:latin typeface="Aptos Display"/>
        <a:ea typeface="Microsoft JhengHei"/>
      </a:majorFont>
      <a:minorFont>
        <a:latin typeface="Aptos"/>
        <a:ea typeface="Microsoft JhengHei"/>
      </a:minorFont>
    </a:fontScheme>
    <a:fmtScheme name="Codex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OpenXML Generator</Application>
  <PresentationFormat>On-screen Show (16:9)</PresentationFormat>
  <Slides>12</Slides>
  <Notes>0</Notes>
  <HiddenSlides>0</HiddenSlides>
  <ScaleCrop>false</ScaleCrop>
  <Company>quant_strategy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外接回測系統與驗證架構統整</dc:title>
  <dc:creator>Codex</dc:creator>
  <cp:lastModifiedBy>Codex</cp:lastModifiedBy>
  <dcterms:created xsi:type="dcterms:W3CDTF">2026-06-11T05:47:21Z</dcterms:created>
  <dcterms:modified xsi:type="dcterms:W3CDTF">2026-06-11T05:47:21Z</dcterms:modified>
</cp:coreProperties>
</file>