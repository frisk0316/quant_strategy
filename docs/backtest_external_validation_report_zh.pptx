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27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9119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5A96"/>
          </a:solidFill>
          <a:ln w="12700">
            <a:solidFill>
              <a:srgbClr val="1F5A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7772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322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外接回測系統與驗證架構統整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21792" y="141732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vectorbt / backtrader / Nautilus：架構、參數、回測邏輯與 Gate 核對版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21792" y="1874520"/>
            <a:ext cx="9692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已依 quant_strategy feature/chart-ux-overhaul repo 重新確認｜2026-06-12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" y="2880360"/>
            <a:ext cx="2011680" cy="411480"/>
          </a:xfrm>
          <a:prstGeom prst="roundRect">
            <a:avLst>
              <a:gd name="adj" fmla="val 35556"/>
            </a:avLst>
          </a:prstGeom>
          <a:solidFill>
            <a:srgbClr val="DBEAFE"/>
          </a:solidFill>
          <a:ln w="12700">
            <a:solidFill>
              <a:srgbClr val="1F5A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2980944"/>
            <a:ext cx="186537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Signal Logic Gate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880360" y="2880360"/>
            <a:ext cx="1828800" cy="411480"/>
          </a:xfrm>
          <a:prstGeom prst="roundRect">
            <a:avLst>
              <a:gd name="adj" fmla="val 35556"/>
            </a:avLst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53512" y="2980944"/>
            <a:ext cx="168249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Advisory PnL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983480" y="2880360"/>
            <a:ext cx="2423160" cy="411480"/>
          </a:xfrm>
          <a:prstGeom prst="roundRect">
            <a:avLst>
              <a:gd name="adj" fmla="val 35556"/>
            </a:avLst>
          </a:prstGeom>
          <a:solidFill>
            <a:srgbClr val="CCFBF1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56632" y="2980944"/>
            <a:ext cx="227685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ct_val / WF / CPCV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26680" y="2880360"/>
            <a:ext cx="2011680" cy="411480"/>
          </a:xfrm>
          <a:prstGeom prst="roundRect">
            <a:avLst>
              <a:gd name="adj" fmla="val 35556"/>
            </a:avLst>
          </a:prstGeom>
          <a:solidFill>
            <a:srgbClr val="FEE2E2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99832" y="2980944"/>
            <a:ext cx="186537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Approval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" y="3794760"/>
            <a:ext cx="108356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3970">
            <a:solidFill>
              <a:srgbClr val="1F5A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3922776"/>
            <a:ext cx="1050645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核對結論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86384" y="43251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42416" y="4325112"/>
            <a:ext cx="102504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原簡報的 differential validation 主軸大致正確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86384" y="473659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42416" y="4736592"/>
            <a:ext cx="102504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需更明確標出：README 的 live gate 是 bar-proxy CPCV → replay CPCV → demo/shadow → human approval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86384" y="514807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42416" y="5148072"/>
            <a:ext cx="102504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Nautilus v1 只能當 export/replay evidence，不能當 independent matching-engine gate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" y="6446520"/>
            <a:ext cx="9464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Source: 上傳簡報；README；docs/ai_collaboration.md；docs/backtest_live_parity_plan.md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378440" y="64465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min font ≥ 15pt｜1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1887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本簡報回答三件事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09560" y="1645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D7E3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範圍與邊界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3970">
            <a:solidFill>
              <a:srgbClr val="1F5A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133856"/>
            <a:ext cx="319125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1｜三套外部引擎的角色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153619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9264" y="1536192"/>
            <a:ext cx="29352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vectorbt：快速 vectorized reference / scanner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194767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9264" y="1947672"/>
            <a:ext cx="29352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backtrader：事件驅動 reference path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13232" y="23591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9264" y="2359152"/>
            <a:ext cx="2935224" cy="10241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Nautilus：目標高保真 queue-aware 框架，目前 v1 未跑 engine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43400" y="100584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397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07992" y="1133856"/>
            <a:ext cx="319125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2｜Artifacts / 參數 / 輸出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07992" y="153619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64024" y="1536192"/>
            <a:ext cx="29352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以既有 backtest artifact bundle 為輸入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194767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64024" y="1947672"/>
            <a:ext cx="29352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 normalized reference artifacts 與 mismatch tables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07992" y="23591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764024" y="2359152"/>
            <a:ext cx="29352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比較範圍分為 signal、trade、PnL、metrics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138160" y="100584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397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02752" y="1133856"/>
            <a:ext cx="319125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3｜Gate 與 Promotion 邊界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302752" y="153619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558784" y="1536192"/>
            <a:ext cx="29352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technical signal logic 可作 strict gate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302752" y="194767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558784" y="1947672"/>
            <a:ext cx="29352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trade / PnL / metrics 目前多為 advisory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02752" y="23591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558784" y="2359152"/>
            <a:ext cx="29352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demo/shadow/live 仍需 repo gate 與使用者批准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94360" y="5623560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重要聲明：這份報告不宣稱任何策略已可 live；Differential validation PASS 只代表特定 reference scope 通過。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11480" y="6446520"/>
            <a:ext cx="9464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Source: uploaded PPT scope + repo deployment gate rules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378440" y="64465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min font ≥ 15pt｜2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1887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Repo 架構核對：驗證架構放在哪裡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09560" y="1645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D7E3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README / docs 對照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783080" y="1874520"/>
            <a:ext cx="96012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886200" y="1874520"/>
            <a:ext cx="91440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080760" y="1874520"/>
            <a:ext cx="91440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8321040" y="1874520"/>
            <a:ext cx="91440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48640" y="1143000"/>
            <a:ext cx="150876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252728"/>
            <a:ext cx="384048" cy="384048"/>
          </a:xfrm>
          <a:prstGeom prst="ellipse">
            <a:avLst/>
          </a:prstGeom>
          <a:solidFill>
            <a:srgbClr val="1F5A96"/>
          </a:solidFill>
          <a:ln w="12700">
            <a:solidFill>
              <a:srgbClr val="1F5A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32588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52144" y="125272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MARKET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3232" y="1709928"/>
            <a:ext cx="1179576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Market data handler / feed store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697480" y="1143000"/>
            <a:ext cx="150876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07208" y="1252728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07208" y="132588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00984" y="125272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SIGNAL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862072" y="1709928"/>
            <a:ext cx="1179576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SignalGenerator 與策略模組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1143000"/>
            <a:ext cx="16916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10328" y="1252728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0328" y="132588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404104" y="1252728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ORDER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65192" y="1709928"/>
            <a:ext cx="1362456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PortfolioManager 與 sizing / risk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086600" y="1143000"/>
            <a:ext cx="16916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96328" y="1252728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96328" y="132588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690104" y="1252728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FILL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251192" y="1709928"/>
            <a:ext cx="1362456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ExecutionHandler / broker / replay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372600" y="1143000"/>
            <a:ext cx="201168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482328" y="1252728"/>
            <a:ext cx="384048" cy="3840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482328" y="132588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976104" y="12527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RISK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537192" y="1709928"/>
            <a:ext cx="1682496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DrawdownTracker + RiskGuard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48640" y="297180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EFF6FF"/>
          </a:solidFill>
          <a:ln w="13970">
            <a:solidFill>
              <a:srgbClr val="1F5A9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" y="3099816"/>
            <a:ext cx="31455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Backtesting layer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713232" y="35021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69264" y="350215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replay.py：event-driven replay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13232" y="39136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69264" y="391363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replay_validation.py：WF / CPCV helpers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13232" y="43251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969264" y="432511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cpcv.py / walk_forward.py：統計驗證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713232" y="473659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969264" y="473659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vectorbt_scanner.py：研究掃描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343400" y="297180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0FDFA"/>
          </a:solidFill>
          <a:ln w="13970">
            <a:solidFill>
              <a:srgbClr val="0F766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07992" y="3099816"/>
            <a:ext cx="31455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Differential validation layer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4507992" y="35021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4764024" y="350215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不以 external engine 當市場資料真相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4507992" y="39136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4764024" y="391363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artifact 為輸入，產出 reference artifacts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4507992" y="43251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4764024" y="432511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strict scope 僅限已宣告 contract 的 reference path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8138160" y="297180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EF2F2"/>
          </a:solidFill>
          <a:ln w="13970">
            <a:solidFill>
              <a:srgbClr val="B91C1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302752" y="3099816"/>
            <a:ext cx="31455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Deployment layer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8302752" y="35021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8558784" y="350215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DSR / PSR / replay / demo / shadow / human approval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8302752" y="39136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8558784" y="391363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任何 chat 記憶不得覆蓋 repo 文件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8302752" y="43251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8558784" y="432511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live 前需要可重現 artifact 與風控 gate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411480" y="6446520"/>
            <a:ext cx="9464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Source: README architecture; docs/ai_collaboration.md 單一真相來源與部署 Gate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10378440" y="64465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min font ≥ 15pt｜3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1887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核對結論：原 PPT 架構是否正確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09560" y="1645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D7E3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Correctness verdict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960120"/>
            <a:ext cx="3474720" cy="4251960"/>
          </a:xfrm>
          <a:prstGeom prst="roundRect">
            <a:avLst>
              <a:gd name="adj" fmla="val 2105"/>
            </a:avLst>
          </a:prstGeom>
          <a:solidFill>
            <a:srgbClr val="ECFDF5"/>
          </a:solidFill>
          <a:ln w="13970">
            <a:solidFill>
              <a:srgbClr val="1580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088136"/>
            <a:ext cx="31455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整體判定：大致正確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149047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9264" y="149047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三引擎分工與 signal strict / PnL advisory 的邊界與 repo 一致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19019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9264" y="190195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「Differential validation 不取代 WF/CPCV」這點正確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13232" y="23134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9264" y="231343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Nautilus 目前不能作 promotion evidence 的判讀正確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43400" y="960120"/>
            <a:ext cx="3474720" cy="4251960"/>
          </a:xfrm>
          <a:prstGeom prst="roundRect">
            <a:avLst>
              <a:gd name="adj" fmla="val 2105"/>
            </a:avLst>
          </a:prstGeom>
          <a:solidFill>
            <a:srgbClr val="FFF7ED"/>
          </a:solidFill>
          <a:ln w="13970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07992" y="1088136"/>
            <a:ext cx="31455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需要補強的地方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07992" y="149047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64024" y="149047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README 主流程更強調 replay validation 三層 gate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19019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64024" y="190195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Live gate 要列明 demo ≥4 週、shadow ≥2 週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07992" y="23134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764024" y="231343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 technical 策略不能只以 artifact replay 作 portable_validation_gate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138160" y="960120"/>
            <a:ext cx="3474720" cy="4251960"/>
          </a:xfrm>
          <a:prstGeom prst="roundRect">
            <a:avLst>
              <a:gd name="adj" fmla="val 2105"/>
            </a:avLst>
          </a:prstGeom>
          <a:solidFill>
            <a:srgbClr val="EFF6FF"/>
          </a:solidFill>
          <a:ln w="13970">
            <a:solidFill>
              <a:srgbClr val="1F5A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02752" y="1088136"/>
            <a:ext cx="31455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本版已修正呈現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302752" y="149047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558784" y="149047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加入 repo 架構核對頁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302752" y="19019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558784" y="190195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將 deployment gate 改成 current README / docs 的順序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02752" y="23134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558784" y="231343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advisory scope 寫成「可被 reviewer 引用阻擋」，不是可忽略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0080" y="5559552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322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一句話：可以保留原簡報的 differential validation 主軸，但要把它放回整個 repo 的 replay / CPCV / live approval gate 裡。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11480" y="6446520"/>
            <a:ext cx="9464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Source: uploaded PPT; README validation workflow; docs/ai_collaboration.md differential validation gate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378440" y="64465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min font ≥ 15pt｜4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1887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三引擎定位矩陣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09560" y="1645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D7E3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相同 artifact bundle，三種 reference 行為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3566160" cy="4526280"/>
          </a:xfrm>
          <a:prstGeom prst="roundRect">
            <a:avLst>
              <a:gd name="adj" fmla="val 2051"/>
            </a:avLst>
          </a:prstGeom>
          <a:solidFill>
            <a:srgbClr val="EFF6FF"/>
          </a:solidFill>
          <a:ln w="13970">
            <a:solidFill>
              <a:srgbClr val="1F5A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042416"/>
            <a:ext cx="323697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vectorbt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9264" y="1444752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Role：reference_signals_only for technical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18562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9264" y="1856232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Mode：technical indicator recompute / artifact signal replay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13232" y="22677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9264" y="2267712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Gate：technical signal_logic 可 PASS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3232" y="267919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9264" y="2679192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限制：fees=0；PnL/equity/metrics 不作 strict gate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315968" y="914400"/>
            <a:ext cx="3566160" cy="4526280"/>
          </a:xfrm>
          <a:prstGeom prst="roundRect">
            <a:avLst>
              <a:gd name="adj" fmla="val 2051"/>
            </a:avLst>
          </a:prstGeom>
          <a:solidFill>
            <a:srgbClr val="F0FDFA"/>
          </a:solidFill>
          <a:ln w="1397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0" y="1042416"/>
            <a:ext cx="323697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backtrader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80560" y="14447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36592" y="1444752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Role：reference_signals_only for technical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480560" y="18562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736592" y="1856232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Mode：TechnicalStrategy.next() 逐 bar 計算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480560" y="22677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36592" y="2267712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Gate：technical signal_logic 可 PASS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480560" y="267919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736592" y="2679192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限制：market order semantics 與專案撮合模型不等價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083296" y="914400"/>
            <a:ext cx="3566160" cy="4526280"/>
          </a:xfrm>
          <a:prstGeom prst="roundRect">
            <a:avLst>
              <a:gd name="adj" fmla="val 2051"/>
            </a:avLst>
          </a:prstGeom>
          <a:solidFill>
            <a:srgbClr val="FFF7ED"/>
          </a:solidFill>
          <a:ln w="13970">
            <a:solidFill>
              <a:srgbClr val="B4530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47888" y="1042416"/>
            <a:ext cx="323697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Nautilus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247888" y="14447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503920" y="1444752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Role：advisory / target high-fidelity framework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47888" y="18562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503920" y="1856232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Mode：目前 v1 只做 artifact replay/export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47888" y="22677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503920" y="2267712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Gate：不能讓 portable gate 通過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247888" y="267919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503920" y="2679192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限制：尚未跑 matching engine；需 L2/L3 catalog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0080" y="5650992"/>
            <a:ext cx="10698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2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判讀規則：strict signal logic 只涵蓋 indicator / signal 的方向與時序；trade / PnL / metrics 目前是 advisory scope。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11480" y="6446520"/>
            <a:ext cx="9464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Source: REFERENCE_VALIDATION_CONTRACTS; README backtesting modules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378440" y="64465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min font ≥ 15pt｜5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1887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外部差異驗證架構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09560" y="1645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D7E3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artifact → reference output → scoped comparison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011680" y="2103120"/>
            <a:ext cx="50292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977640" y="2103120"/>
            <a:ext cx="50292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5943600" y="2103120"/>
            <a:ext cx="50292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909560" y="2103120"/>
            <a:ext cx="50292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921240" y="2103120"/>
            <a:ext cx="50292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02920" y="1234440"/>
            <a:ext cx="1737360" cy="18745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2648" y="1344168"/>
            <a:ext cx="384048" cy="384048"/>
          </a:xfrm>
          <a:prstGeom prst="ellipse">
            <a:avLst/>
          </a:prstGeom>
          <a:solidFill>
            <a:srgbClr val="1F5A96"/>
          </a:solidFill>
          <a:ln w="12700">
            <a:solidFill>
              <a:srgbClr val="1F5A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141732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06424" y="1344168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Artifact Bundle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67512" y="1801368"/>
            <a:ext cx="1408176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result / price / signals / trades / fills / equity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514600" y="1234440"/>
            <a:ext cx="1737360" cy="18745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4328" y="1344168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24328" y="141732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118104" y="1344168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Contract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679192" y="1801368"/>
            <a:ext cx="1408176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 class / required artifacts / engine roles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26280" y="1234440"/>
            <a:ext cx="1737360" cy="18745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36008" y="1344168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6008" y="141732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129784" y="1344168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Adapters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690872" y="1801368"/>
            <a:ext cx="1408176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vectorbt / backtrader / Nautilus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537960" y="1234440"/>
            <a:ext cx="1737360" cy="18745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47688" y="1344168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47688" y="141732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141464" y="1344168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Reference Outputs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702552" y="1801368"/>
            <a:ext cx="1408176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signals / trades / equity / metrics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549640" y="1234440"/>
            <a:ext cx="1737360" cy="18745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59368" y="1344168"/>
            <a:ext cx="384048" cy="3840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68" y="141732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53144" y="1344168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Comparator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714232" y="1801368"/>
            <a:ext cx="1408176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indicator / signal / trade / PnL / metrics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10287000" y="1234440"/>
            <a:ext cx="1463040" cy="1874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396728" y="1344168"/>
            <a:ext cx="384048" cy="384048"/>
          </a:xfrm>
          <a:prstGeom prst="ellipse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396728" y="141732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0890504" y="134416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2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Validation Result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451592" y="1801368"/>
            <a:ext cx="1133856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validation_result.json + mismatches_*.csv + UI/API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777240" y="365760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3970">
            <a:solidFill>
              <a:srgbClr val="1F5A9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41832" y="3785616"/>
            <a:ext cx="479145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Output 必須回答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941832" y="41879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197864" y="4187952"/>
            <a:ext cx="45354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哪個 engine 有 strict PASS？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941832" y="45994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197864" y="4599432"/>
            <a:ext cx="45354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actionable_mismatch_count 是否為 0？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941832" y="50109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197864" y="5010912"/>
            <a:ext cx="45354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portable_validation_gate 是否 passed？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941832" y="542239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197864" y="5422392"/>
            <a:ext cx="45354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advisory mismatch 是否需要 reviewer 阻擋？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6355080" y="3657600"/>
            <a:ext cx="4983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3970">
            <a:solidFill>
              <a:srgbClr val="B4530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19672" y="3785616"/>
            <a:ext cx="465429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PPT 修正重點</a:t>
            </a:r>
            <a:endParaRPr lang="en-US" sz="1700" dirty="0"/>
          </a:p>
        </p:txBody>
      </p:sp>
      <p:sp>
        <p:nvSpPr>
          <p:cNvPr id="52" name="Text 50"/>
          <p:cNvSpPr/>
          <p:nvPr/>
        </p:nvSpPr>
        <p:spPr>
          <a:xfrm>
            <a:off x="6519672" y="41879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6775704" y="4187952"/>
            <a:ext cx="439826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“external reference” 定義成行為參考，不是資料真相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6519672" y="45994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6775704" y="4599432"/>
            <a:ext cx="439826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non-technical replay 標為 evidence gap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6519672" y="50109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6775704" y="5010912"/>
            <a:ext cx="439826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validation_result.json 當報告附件索引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411480" y="6446520"/>
            <a:ext cx="9464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Source: differential_validation.py docstring; docs/ai_collaboration.md differential gate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10378440" y="64465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min font ≥ 15pt｜6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1887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Technical indicator 策略：strict gate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09560" y="1645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D7E3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 / ema / macd crossover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3474720" cy="4343400"/>
          </a:xfrm>
          <a:prstGeom prst="roundRect">
            <a:avLst>
              <a:gd name="adj" fmla="val 2105"/>
            </a:avLst>
          </a:prstGeom>
          <a:solidFill>
            <a:srgbClr val="EFF6FF"/>
          </a:solidFill>
          <a:ln w="13970">
            <a:solidFill>
              <a:srgbClr val="1F5A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042416"/>
            <a:ext cx="31455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Signal recompute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9264" y="144475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price_series.csv 重算 SMA / EMA / MACD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18562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9264" y="185623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warmup 後檢查 prev / current crossover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13232" y="22677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9264" y="226771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買賣 signal 的方向與時序要吻合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43400" y="914400"/>
            <a:ext cx="3474720" cy="4343400"/>
          </a:xfrm>
          <a:prstGeom prst="roundRect">
            <a:avLst>
              <a:gd name="adj" fmla="val 2105"/>
            </a:avLst>
          </a:prstGeom>
          <a:solidFill>
            <a:srgbClr val="ECFDF5"/>
          </a:solidFill>
          <a:ln w="1397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07992" y="1042416"/>
            <a:ext cx="31455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 requirement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07992" y="14447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64024" y="144475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至少一個 vectorbt 或 backtrader signal_logic PASS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18562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64024" y="185623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actionable_mismatch_count = 0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07992" y="22677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764024" y="226771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strategy_params 只能來自 result/config，不依 chat memory 改假設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138160" y="914400"/>
            <a:ext cx="3474720" cy="4343400"/>
          </a:xfrm>
          <a:prstGeom prst="roundRect">
            <a:avLst>
              <a:gd name="adj" fmla="val 2105"/>
            </a:avLst>
          </a:prstGeom>
          <a:solidFill>
            <a:srgbClr val="FFF7ED"/>
          </a:solidFill>
          <a:ln w="1397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02752" y="1042416"/>
            <a:ext cx="31455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Advisory only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302752" y="14447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558784" y="144475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Portfolio.from_signals / market orders 可產生 equity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302752" y="18562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558784" y="185623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order / fill / PnL semantics 不等價於專案撮合模型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02752" y="22677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558784" y="226771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PnL mismatch 不自動 gate fail，但 reviewer 可引用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85800" y="5614416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2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這個頁面的判讀與原簡報一致：technical 策略能以外部 engine 做 portable signal validation；但不是 live readiness。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11480" y="6446520"/>
            <a:ext cx="9464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Source: docs/ai_collaboration.md differential validation gate; uploaded PPT technical strategy scope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378440" y="64465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min font ≥ 15pt｜7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1887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 technical 策略：目前多為 advisory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09560" y="1645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D7E3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carry / pairs / rotation / market making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3474720" cy="4434840"/>
          </a:xfrm>
          <a:prstGeom prst="roundRect">
            <a:avLst>
              <a:gd name="adj" fmla="val 2105"/>
            </a:avLst>
          </a:prstGeom>
          <a:solidFill>
            <a:srgbClr val="FFF7ED"/>
          </a:solidFill>
          <a:ln w="13970">
            <a:solidFill>
              <a:srgbClr val="B4530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042416"/>
            <a:ext cx="31455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Carry / Stat Arb / Rotation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9264" y="144475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funding_carry、pairs_trading、ohlcv_rotation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18562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9264" y="185623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vectorbt/backtrader artifact replay 只能證明時間軸可重播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13232" y="22677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9264" y="226771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不能單獨作 promotion evidence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43400" y="914400"/>
            <a:ext cx="3474720" cy="4434840"/>
          </a:xfrm>
          <a:prstGeom prst="roundRect">
            <a:avLst>
              <a:gd name="adj" fmla="val 2105"/>
            </a:avLst>
          </a:prstGeom>
          <a:solidFill>
            <a:srgbClr val="FEF2F2"/>
          </a:solidFill>
          <a:ln w="13970">
            <a:solidFill>
              <a:srgbClr val="B91C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07992" y="1042416"/>
            <a:ext cx="31455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Execution-sensitive MM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07992" y="14447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64024" y="144475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as_market_maker、obi_market_maker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18562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64024" y="185623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 L2/L3、queue priority、partial fill、funding cashflow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07992" y="22677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764024" y="226771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 Nautilus v1 不足以通過 independent portable gate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138160" y="914400"/>
            <a:ext cx="3474720" cy="4434840"/>
          </a:xfrm>
          <a:prstGeom prst="roundRect">
            <a:avLst>
              <a:gd name="adj" fmla="val 2105"/>
            </a:avLst>
          </a:prstGeom>
          <a:solidFill>
            <a:srgbClr val="EFF6FF"/>
          </a:solidFill>
          <a:ln w="13970">
            <a:solidFill>
              <a:srgbClr val="1F5A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02752" y="1042416"/>
            <a:ext cx="31455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正確的 blocking gap 寫法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302752" y="14447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558784" y="144475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portable_validation_gate.passed = false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302752" y="18562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558784" y="185623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blocked_reason: only_advisory_reference_replay_completed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02752" y="22677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558784" y="226771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列入 promotion ADR 的 blocking gap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85800" y="5605272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修正點：非 technical 策略不得以永久 not applicable 結案；除非完整 adapter 實作，否則 promotion gate 應被阻擋。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11480" y="6446520"/>
            <a:ext cx="9464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Source: docs/ai_collaboration.md differential validation gate; README strategy modules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378440" y="64465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min font ≥ 15pt｜8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1887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Replay / CPCV 驗證架構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09560" y="1645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D7E3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README 主流程需要放進 PPT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926080" y="1828800"/>
            <a:ext cx="91440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217920" y="1828800"/>
            <a:ext cx="91440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85800" y="100584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EFF6FF"/>
          </a:solidFill>
          <a:ln w="13970">
            <a:solidFill>
              <a:srgbClr val="1F5A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133856"/>
            <a:ext cx="241401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Layer 1｜Bar-proxy CPCV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50392" y="153619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06424" y="1536192"/>
            <a:ext cx="215798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scripts/run_backtest.py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50392" y="194767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06424" y="1947672"/>
            <a:ext cx="215798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N=27 research trials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0392" y="23591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06424" y="2359152"/>
            <a:ext cx="215798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Gate：DSR ≥ 0.95 才進 replay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0" y="100584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F0FDFA"/>
          </a:solidFill>
          <a:ln w="1397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6592" y="1133856"/>
            <a:ext cx="241401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Layer 2｜Replay smoke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736592" y="153619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92624" y="1536192"/>
            <a:ext cx="215798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run_replay_validation.py smoke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36592" y="194767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992624" y="1947672"/>
            <a:ext cx="215798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n_splits=3, k_test=1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36592" y="23591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992624" y="2359152"/>
            <a:ext cx="215798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 engine 可跑、fills 非零、OOS Sharpe 正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412480" y="1005840"/>
            <a:ext cx="2834640" cy="2743200"/>
          </a:xfrm>
          <a:prstGeom prst="roundRect">
            <a:avLst>
              <a:gd name="adj" fmla="val 2667"/>
            </a:avLst>
          </a:prstGeom>
          <a:solidFill>
            <a:srgbClr val="ECFDF5"/>
          </a:solidFill>
          <a:ln w="13970">
            <a:solidFill>
              <a:srgbClr val="1580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77072" y="1133856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Layer 3｜Full replay CPCV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577072" y="153619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833104" y="1536192"/>
            <a:ext cx="22494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n_splits=6, k_test=2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577072" y="194767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833104" y="1947672"/>
            <a:ext cx="22494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27-combo parameter grid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577072" y="23591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833104" y="2359152"/>
            <a:ext cx="22494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Gate：DSR ≥ 0.95 且 mean OOS Sharpe &gt; 0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60120" y="3977640"/>
            <a:ext cx="10241280" cy="2057400"/>
          </a:xfrm>
          <a:prstGeom prst="roundRect">
            <a:avLst>
              <a:gd name="adj" fmla="val 3556"/>
            </a:avLst>
          </a:prstGeom>
          <a:solidFill>
            <a:srgbClr val="FFF7ED"/>
          </a:solidFill>
          <a:ln w="13970">
            <a:solidFill>
              <a:srgbClr val="B4530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24712" y="4105656"/>
            <a:ext cx="991209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Replay engine 模型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124712" y="450799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380744" y="4507992"/>
            <a:ext cx="965606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post-only resting orders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124712" y="491947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380744" y="4919472"/>
            <a:ext cx="965606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price crossed book → dropped，不改用 taker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124712" y="53309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380744" y="5330952"/>
            <a:ext cx="965606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partial fills、cancel latency、maker fees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124712" y="57424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380744" y="5742432"/>
            <a:ext cx="965606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order_latency_ms / cancel_latency_ms / queue_fill_fraction 由 config/risk.yaml 讀取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411480" y="6446520"/>
            <a:ext cx="9464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Source: README Replay Validation and Full replay CPCV gate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0378440" y="64465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min font ≥ 15pt｜9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1887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資料來源與可重現性 Gate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09560" y="1645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D7E3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ct_val / funding / DB parity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3520440" cy="4389120"/>
          </a:xfrm>
          <a:prstGeom prst="roundRect">
            <a:avLst>
              <a:gd name="adj" fmla="val 2078"/>
            </a:avLst>
          </a:prstGeom>
          <a:solidFill>
            <a:srgbClr val="EFF6FF"/>
          </a:solidFill>
          <a:ln w="13970">
            <a:solidFill>
              <a:srgbClr val="1F5A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042416"/>
            <a:ext cx="319125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Source data checks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9264" y="1444752"/>
            <a:ext cx="29352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資料時間區間、時區、symbol 對齊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18562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9264" y="1856232"/>
            <a:ext cx="29352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OHLCV 結構與 required artifacts 檢查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13232" y="22677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9264" y="2267712"/>
            <a:ext cx="29352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SWAP artifact 需通過 authoritative ct_val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43400" y="914400"/>
            <a:ext cx="3520440" cy="4389120"/>
          </a:xfrm>
          <a:prstGeom prst="roundRect">
            <a:avLst>
              <a:gd name="adj" fmla="val 2078"/>
            </a:avLst>
          </a:prstGeom>
          <a:solidFill>
            <a:srgbClr val="F0FDFA"/>
          </a:solidFill>
          <a:ln w="1397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07992" y="1042416"/>
            <a:ext cx="319125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 layer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07992" y="14447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64024" y="1444752"/>
            <a:ext cx="29352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raw_candles / market_klines → canonical_candles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18562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64024" y="1856232"/>
            <a:ext cx="29352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funding_rates / market_funding_rates 對齊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07992" y="22677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764024" y="2267712"/>
            <a:ext cx="29352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Backtest 讀 strategy-ready canonical layer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138160" y="914400"/>
            <a:ext cx="3520440" cy="4389120"/>
          </a:xfrm>
          <a:prstGeom prst="roundRect">
            <a:avLst>
              <a:gd name="adj" fmla="val 2078"/>
            </a:avLst>
          </a:prstGeom>
          <a:solidFill>
            <a:srgbClr val="FEF2F2"/>
          </a:solidFill>
          <a:ln w="13970">
            <a:solidFill>
              <a:srgbClr val="B91C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02752" y="1042416"/>
            <a:ext cx="319125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Artifact reproducibility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302752" y="14447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558784" y="1444752"/>
            <a:ext cx="29352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每筆 artifact 必須附 validation_status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302752" y="18562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558784" y="1856232"/>
            <a:ext cx="29352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trade log / fill log / equity curve 可重現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02752" y="22677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558784" y="2267712"/>
            <a:ext cx="293522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策略參數要來自 docs/config/result，而非 notebook/chat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85800" y="5632704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2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核對結果：原 PPT 的 source_data_validation / ct_val / DB parity 放置位置正確；建議把 canonical layer 寫得更明確。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11480" y="6446520"/>
            <a:ext cx="9464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Source: README database layer; docs/ai_collaboration.md 回測正確性 Gate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378440" y="64465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min font ≥ 15pt｜10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1887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Deployment Gate 關係圖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09560" y="1645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D7E3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Differential validation 只是其中一個必過項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468880" y="1645920"/>
            <a:ext cx="59436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937760" y="1645920"/>
            <a:ext cx="59436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406640" y="1645920"/>
            <a:ext cx="59436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75520" y="1645920"/>
            <a:ext cx="59436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02920" y="960120"/>
            <a:ext cx="18745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" y="1069848"/>
            <a:ext cx="384048" cy="384048"/>
          </a:xfrm>
          <a:prstGeom prst="ellipse">
            <a:avLst/>
          </a:prstGeom>
          <a:solidFill>
            <a:srgbClr val="1F5A96"/>
          </a:solidFill>
          <a:ln w="12700">
            <a:solidFill>
              <a:srgbClr val="1F5A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114300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06424" y="106984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Historical artifact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" y="1527048"/>
            <a:ext cx="1545336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validation_status + no idealized fill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971800" y="960120"/>
            <a:ext cx="18745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81528" y="1069848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81528" y="114300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575304" y="106984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Differential validation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136392" y="1527048"/>
            <a:ext cx="1545336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technical signal strict；非 technical gap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40680" y="960120"/>
            <a:ext cx="18745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50408" y="1069848"/>
            <a:ext cx="384048" cy="38404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50408" y="114300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044184" y="106984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WF / CPCV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605272" y="1527048"/>
            <a:ext cx="1545336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DSR / PSR ≥ 0.95；no leakage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909560" y="960120"/>
            <a:ext cx="18745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19288" y="1069848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19288" y="114300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513064" y="106984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Replay / Demo / Shadow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074152" y="1527048"/>
            <a:ext cx="1545336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replay fills；demo ≥4 週；shadow ≥2 週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10241280" y="960120"/>
            <a:ext cx="1554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351008" y="1069848"/>
            <a:ext cx="384048" cy="3840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351008" y="114300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0844784" y="106984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approval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405872" y="1527048"/>
            <a:ext cx="1225296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使用者明確批准才可 live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3154680"/>
            <a:ext cx="5166360" cy="2331720"/>
          </a:xfrm>
          <a:prstGeom prst="roundRect">
            <a:avLst>
              <a:gd name="adj" fmla="val 3137"/>
            </a:avLst>
          </a:prstGeom>
          <a:solidFill>
            <a:srgbClr val="FEF2F2"/>
          </a:solidFill>
          <a:ln w="13970">
            <a:solidFill>
              <a:srgbClr val="B91C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4672" y="3282696"/>
            <a:ext cx="483717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Live 前硬條件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804672" y="36850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60704" y="3685032"/>
            <a:ext cx="458114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Bar-proxy CPCV DSR ≥ 0.95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04672" y="40965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60704" y="4096512"/>
            <a:ext cx="458114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Full replay CPCV DSR ≥ 0.95 with calibrated fill model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04672" y="450799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1060704" y="4507992"/>
            <a:ext cx="458114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trading ≥ 4 weeks；Shadow mode ≥ 2 weeks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04672" y="491947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60704" y="4919472"/>
            <a:ext cx="458114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RiskGuard、kill switch、secrets、observability、rollback 可驗證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6263640" y="3154680"/>
            <a:ext cx="5074920" cy="2331720"/>
          </a:xfrm>
          <a:prstGeom prst="roundRect">
            <a:avLst>
              <a:gd name="adj" fmla="val 3137"/>
            </a:avLst>
          </a:prstGeom>
          <a:solidFill>
            <a:srgbClr val="EFF6FF"/>
          </a:solidFill>
          <a:ln w="13970">
            <a:solidFill>
              <a:srgbClr val="1F5A9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28232" y="3282696"/>
            <a:ext cx="47457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簡報修正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6428232" y="36850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6684264" y="3685032"/>
            <a:ext cx="44897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原圖方向正確，但需加入 README 的 demo/shadow 時間與 calibrated fill model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6428232" y="40965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6684264" y="4096512"/>
            <a:ext cx="44897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Differential PASS 不代表費用、資金費、成交、成本模型或 live risk 已驗證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411480" y="6446520"/>
            <a:ext cx="9464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Source: README Live Deployment Gates; docs/ai_collaboration.md 部署 Gate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0378440" y="64465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min font ≥ 15pt｜11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1887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操作入口與輸出 artifact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09560" y="1645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D7E3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CLI / API / UI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3474720" cy="4389120"/>
          </a:xfrm>
          <a:prstGeom prst="roundRect">
            <a:avLst>
              <a:gd name="adj" fmla="val 2105"/>
            </a:avLst>
          </a:prstGeom>
          <a:solidFill>
            <a:srgbClr val="EFF6FF"/>
          </a:solidFill>
          <a:ln w="13970">
            <a:solidFill>
              <a:srgbClr val="1F5A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042416"/>
            <a:ext cx="31455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9264" y="144475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run_differential_validation.py --run-id &lt;id&gt;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18562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9264" y="185623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run_replay_validation.py --mode both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13232" y="22677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9264" y="226771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run_backtest.py / run_replay_backtest.py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3232" y="267919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9264" y="267919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run_calibration_apply.py for fill model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343400" y="914400"/>
            <a:ext cx="3474720" cy="4389120"/>
          </a:xfrm>
          <a:prstGeom prst="roundRect">
            <a:avLst>
              <a:gd name="adj" fmla="val 2105"/>
            </a:avLst>
          </a:prstGeom>
          <a:solidFill>
            <a:srgbClr val="F0FDFA"/>
          </a:solidFill>
          <a:ln w="1397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7992" y="1042416"/>
            <a:ext cx="31455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/ UI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07992" y="14447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64024" y="144475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Backtest Results：saved runs 與 result.json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07992" y="18562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764024" y="185623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Walk-Forward / CPCV：validation paths and DSR/PSR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07992" y="22677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64024" y="226771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Validation view：engine roles、mismatch preview、advisory labels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07992" y="267919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764024" y="267919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Risk / Trades：live/shadow observability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138160" y="914400"/>
            <a:ext cx="3474720" cy="4389120"/>
          </a:xfrm>
          <a:prstGeom prst="roundRect">
            <a:avLst>
              <a:gd name="adj" fmla="val 2105"/>
            </a:avLst>
          </a:prstGeom>
          <a:solidFill>
            <a:srgbClr val="FFF7ED"/>
          </a:solidFill>
          <a:ln w="13970">
            <a:solidFill>
              <a:srgbClr val="B4530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02752" y="1042416"/>
            <a:ext cx="31455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Report attachments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302752" y="14447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558784" y="144475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validation_result.json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302752" y="18562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558784" y="185623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reference_&lt;engine&gt;_*.csv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302752" y="22677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558784" y="226771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mismatches_*.csv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302752" y="267919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558784" y="267919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calibration JSONL + summary JSON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302752" y="309067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558784" y="309067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result.json / fill log / equity curve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85800" y="5614416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建議：若要作 promotion evidence，legacy ma/macd artifacts 需重跑，並確認 validation_result.json 有必要 gate 欄位。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11480" y="6446520"/>
            <a:ext cx="9464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Source: uploaded PPT CLI/API/UI; README frontend dashboard and validation workflow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378440" y="64465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min font ≥ 15pt｜12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1887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建議下一步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09560" y="1645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D7E3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從「可重播」推進到「可作 promotion evidence」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3474720" cy="4480560"/>
          </a:xfrm>
          <a:prstGeom prst="roundRect">
            <a:avLst>
              <a:gd name="adj" fmla="val 2105"/>
            </a:avLst>
          </a:prstGeom>
          <a:solidFill>
            <a:srgbClr val="EFF6FF"/>
          </a:solidFill>
          <a:ln w="13970">
            <a:solidFill>
              <a:srgbClr val="1F5A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042416"/>
            <a:ext cx="31455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短期：驗證產物一致化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9264" y="144475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重跑 legacy ma/macd artifacts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18562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9264" y="185623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補齊 source_data_validation / validation_conclusion / portable_validation_gate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13232" y="22677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9264" y="226771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保留 mismatch CSV 給 reviewer 定位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43400" y="914400"/>
            <a:ext cx="3474720" cy="4480560"/>
          </a:xfrm>
          <a:prstGeom prst="roundRect">
            <a:avLst>
              <a:gd name="adj" fmla="val 2105"/>
            </a:avLst>
          </a:prstGeom>
          <a:solidFill>
            <a:srgbClr val="F0FDFA"/>
          </a:solidFill>
          <a:ln w="1397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07992" y="1042416"/>
            <a:ext cx="31455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中期：強化 replay validation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07992" y="14447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64024" y="144475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WF/CPCV returns 改用 replay fill/order/equity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18562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64024" y="185623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SWAP artifact 全部通過 authoritative ct_val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07992" y="22677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764024" y="226771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demo/shadow calibration 回寫 fill model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138160" y="914400"/>
            <a:ext cx="3474720" cy="4480560"/>
          </a:xfrm>
          <a:prstGeom prst="roundRect">
            <a:avLst>
              <a:gd name="adj" fmla="val 2105"/>
            </a:avLst>
          </a:prstGeom>
          <a:solidFill>
            <a:srgbClr val="ECFDF5"/>
          </a:solidFill>
          <a:ln w="13970">
            <a:solidFill>
              <a:srgbClr val="1580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02752" y="1042416"/>
            <a:ext cx="3145536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長期：完整 Nautilus adapter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302752" y="144475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558784" y="144475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 Nautilus catalog 與 OKX adapter mapping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302752" y="185623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558784" y="185623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 L2/L3 order book、order/fill events、funding cashflows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02752" y="2267712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80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558784" y="2267712"/>
            <a:ext cx="2889504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 execution-sensitive strategy 有 independent reference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85800" y="5623560"/>
            <a:ext cx="10698480" cy="3931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322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 review questions：technical signal strict scope 是否足以支撐 promotion？非 technical 應以哪些替代證據補足？Nautilus 最小可驗收資料集要到 L2 還是 L3？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11480" y="6446520"/>
            <a:ext cx="9464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Source: uploaded PPT next steps; README replay validation; docs/backtest_live_parity_plan.md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378440" y="64465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min font ≥ 15pt｜13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32238"/>
          </a:solidFill>
          <a:ln w="12700">
            <a:solidFill>
              <a:srgbClr val="1322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1887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附錄：Gate Checklist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09560" y="1645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500" dirty="0">
                <a:solidFill>
                  <a:srgbClr val="D7E3F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報告審查用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9601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E0F2FE"/>
          </a:solidFill>
          <a:ln w="12700">
            <a:solidFill>
              <a:srgbClr val="1F5A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08813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880360" y="1060704"/>
            <a:ext cx="81838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symbol / timezone / OHLCV / funding / ct_val / DB parity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167335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E0F2FE"/>
          </a:solidFill>
          <a:ln w="12700">
            <a:solidFill>
              <a:srgbClr val="1F5A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801368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 leakage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880360" y="1773936"/>
            <a:ext cx="81838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無未來資料；WF/CPCV purge/embargo；n_trials 誠實申報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2386584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E0F2FE"/>
          </a:solidFill>
          <a:ln w="12700">
            <a:solidFill>
              <a:srgbClr val="1F5A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51460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Execution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880360" y="2487168"/>
            <a:ext cx="81838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fees / spread / slippage / missed-fill / maker-only constraint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3099816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E0F2FE"/>
          </a:solidFill>
          <a:ln w="12700">
            <a:solidFill>
              <a:srgbClr val="1F5A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22783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Differential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80360" y="3200400"/>
            <a:ext cx="81838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technical signal PASS 或 non-technical gap 明確 blocked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3813048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E0F2FE"/>
          </a:solidFill>
          <a:ln w="12700">
            <a:solidFill>
              <a:srgbClr val="1F5A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941064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Replay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880360" y="3913632"/>
            <a:ext cx="81838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full stack replay with order/fill/equity/fees/funding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22960" y="452628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E0F2FE"/>
          </a:solidFill>
          <a:ln w="12700">
            <a:solidFill>
              <a:srgbClr val="1F5A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65429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5A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Deployment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880360" y="4626864"/>
            <a:ext cx="81838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demo/shadow period + human approval + risk guard + rollback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68680" y="5715000"/>
            <a:ext cx="102412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最終判斷：validation gate 是「層層加總」而非互相替代；任何一層 FAIL 都不能用另一層 PASS 抵銷。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11480" y="6446520"/>
            <a:ext cx="9464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Source: docs/ai_collaboration.md 回測正確性 Gate / 部署 Gate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378440" y="64465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min font ≥ 15pt｜14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2076</Words>
  <Application>Microsoft Office PowerPoint</Application>
  <PresentationFormat>寬螢幕</PresentationFormat>
  <Paragraphs>416</Paragraphs>
  <Slides>14</Slides>
  <Notes>14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8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外接回測系統與驗證架構統整</dc:title>
  <dc:subject>External backtest validation architecture verification</dc:subject>
  <dc:creator>OpenAI</dc:creator>
  <cp:lastModifiedBy>Maxwell Friedman</cp:lastModifiedBy>
  <cp:revision>2</cp:revision>
  <dcterms:created xsi:type="dcterms:W3CDTF">2026-06-12T06:36:33Z</dcterms:created>
  <dcterms:modified xsi:type="dcterms:W3CDTF">2026-06-12T06:41:50Z</dcterms:modified>
</cp:coreProperties>
</file>