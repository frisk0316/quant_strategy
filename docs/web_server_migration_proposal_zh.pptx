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216" autoAdjust="0"/>
    <p:restoredTop sz="94660"/>
  </p:normalViewPr>
  <p:slideViewPr>
    <p:cSldViewPr snapToGrid="0">
      <p:cViewPr varScale="1">
        <p:scale>
          <a:sx n="54" d="100"/>
          <a:sy n="54" d="100"/>
        </p:scale>
        <p:origin x="6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68259C-202B-4CCD-BF33-1DA89AF30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3A409B-28D4-4A4E-A826-E5F17794E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FE772-FDCE-4C98-AB74-8B063F8E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E44C45-2B71-4324-868C-B2C4D1CA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5F7FD7-E11E-4B7E-B5CA-6A599DEA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26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BA677A-753A-4277-BDDD-18662042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A249B0-8931-4C29-8A5B-632EAD79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BDA8EC-2FCA-4CD1-96BF-E1B8987F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BD0CE1-876A-4488-99DD-6D1A84F9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AF1CCD-CB6D-415A-8314-B9765274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C75DC-3173-43A7-B66B-00F1F7C9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62FE3D-6D4E-4BEC-B940-4206C3295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0C10F8-A87F-4355-AEE9-5E9E9DE9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9F9E75-5159-407A-8E6C-DF144F34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561EBC-7E07-4C9D-86D0-AB761C9C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764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31F4BC-DA48-4593-9589-F1932D6E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1D9F8E-C1BF-4AA5-940B-DAE164EB0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5E3D44-B75F-428C-B92D-8F8663F3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57DC45-F473-4C3F-A8CF-7A8C9D9F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0C9FC3-BA94-493F-82A0-F12B2429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A66245-DE69-4249-8F58-E1992F5F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43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F643E-FDF5-4F9A-91CA-1EAD478F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FBCA8B-9800-4A71-858B-4AB6B4B31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72A32A-D9EE-4739-81B0-5A0745C83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54096B-F99F-42FA-8B93-95C783537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40C3E25-B118-4D31-8FD6-554AC9425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5E2BE6-4339-4C01-8716-BC08712A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3938A9F-29C9-4F47-8807-91DE4A1E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D9DA6D-680F-45C4-BEE8-C1DC4628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321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15A58-FD53-4C61-BC8D-F91EE564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8655F8-E9F8-4AB7-858A-A1741CCF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5D7D21-9EF7-43E2-BEC7-364393DC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0721B2-9B81-4A63-9E9E-0200C289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19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46E516-F7C4-4B34-8D68-6E3FD7C4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E96916-0DCA-40A3-94A6-0BA6B4B8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069FD0-4413-4C33-B6B5-90B65367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3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84C1FC-9748-418A-B2E6-61D8C5C2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D604A6-CBA9-4996-ADC5-FB891CA52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AA36D5-DE46-4C7E-9144-AF9F6DE93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B15180-A0B5-4841-8D4D-34860AE1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FAD2F96-0F4F-4747-AAB4-3CF87C88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A5772F-886C-4DB6-BEF3-9D414ABC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66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11B16-37CD-4FD7-A70C-52D6AE29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5592B2-04E1-4B57-ABDD-0C0256660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59E201-065A-45E3-8B41-E96FBF65C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A51D30-4756-4B29-A432-EAEA348D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39BAC1-D69B-4E1A-B05B-CF951A99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0BAEC3-9070-4160-A9C9-402A82D2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12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183A3C-88B8-4FED-9FC6-CED462A4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A62493-EAD0-483F-887F-D0782E216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069640-0F76-44A0-865D-6F545BEF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D4968D-8554-4FB6-828B-8E485360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E6A651-79FC-4218-9A33-AACCD0B6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590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D512FD6-0A67-436E-AA52-B710E960A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D524B8-A314-41C9-879D-B7D92722F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E1B889-D0EA-4B4D-989A-ABCD0A07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C94795-8B28-4CCB-ABEC-6A5422A8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FDF4B5-5385-4528-84C9-85F346A8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31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195AA2-3406-4B1B-BDAA-0B1A7953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119DDF-89DF-4F2D-BCC0-EF8F6D8F7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9C7296-A48F-42C1-8BC9-2E7BE7675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C7BD8-55E2-4387-8EB3-6CC6FDFE89A9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DB418D-C4E5-4D02-A586-2318AE254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917E65-A319-42A4-A193-2A8F2AB66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62299-8F17-4598-AAED-A68CF9F88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89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E0A9550-2913-4402-AC1C-DB8112F877B2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量化交易系統 </a:t>
            </a:r>
            <a:r>
              <a:rPr lang="en-US" altLang="zh-TW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 Server </a:t>
            </a:r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遷移企劃書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DE1CF5-8DAA-4984-8161-0B21B296AFD7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給主管決策用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- 2026-05-19</a:t>
            </a:r>
            <a:endParaRPr lang="zh-TW" altLang="en-US" sz="12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FFF0F38-9B54-4D2B-9891-11347CAB7891}"/>
              </a:ext>
            </a:extLst>
          </p:cNvPr>
          <p:cNvSpPr/>
          <p:nvPr/>
        </p:nvSpPr>
        <p:spPr>
          <a:xfrm>
            <a:off x="685800" y="1600200"/>
            <a:ext cx="4876800" cy="1371600"/>
          </a:xfrm>
          <a:prstGeom prst="roundRect">
            <a:avLst/>
          </a:prstGeom>
          <a:solidFill>
            <a:srgbClr val="E0F2FE"/>
          </a:solidFill>
          <a:ln w="15875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500" b="1">
                <a:solidFill>
                  <a:srgbClr val="0759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建議決策
採兩階段遷移：先低成本上線，再升級代管資料層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E4F46C0-7C0E-43F6-B6E4-13477F2BBCAE}"/>
              </a:ext>
            </a:extLst>
          </p:cNvPr>
          <p:cNvSpPr/>
          <p:nvPr/>
        </p:nvSpPr>
        <p:spPr>
          <a:xfrm>
            <a:off x="6629400" y="1600200"/>
            <a:ext cx="4876800" cy="13716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5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預算級距
第一階段 </a:t>
            </a:r>
            <a:r>
              <a:rPr lang="en-US" altLang="zh-TW" sz="15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25-40/</a:t>
            </a:r>
            <a:r>
              <a:rPr lang="zh-TW" altLang="en-US" sz="15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月；第二階段 </a:t>
            </a:r>
            <a:r>
              <a:rPr lang="en-US" altLang="zh-TW" sz="15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60-100/</a:t>
            </a:r>
            <a:r>
              <a:rPr lang="zh-TW" altLang="en-US" sz="15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3F5CF4-4572-4FAB-B47F-9BB3092651AB}"/>
              </a:ext>
            </a:extLst>
          </p:cNvPr>
          <p:cNvSpPr txBox="1"/>
          <p:nvPr/>
        </p:nvSpPr>
        <p:spPr>
          <a:xfrm>
            <a:off x="914400" y="3556000"/>
            <a:ext cx="10058400" cy="62581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先支援 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Dashboard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Backtest Viewer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、資料查詢、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觀察。
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不將本部署視為 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trading production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仍須通過既有 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validation gates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與人工核准。</a:t>
            </a:r>
          </a:p>
        </p:txBody>
      </p:sp>
    </p:spTree>
    <p:extLst>
      <p:ext uri="{BB962C8B-B14F-4D97-AF65-F5344CB8AC3E}">
        <p14:creationId xmlns:p14="http://schemas.microsoft.com/office/powerpoint/2010/main" val="329451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CBDF644-235D-4D66-B401-029798B4663D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一頁決策摘要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3C728F-2F18-45FD-A964-3C05E0641C70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建議用小步快跑驗證部署，再依長跑需求升級資料層。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DD6471A-D715-4C24-A923-BBD507DD83EC}"/>
              </a:ext>
            </a:extLst>
          </p:cNvPr>
          <p:cNvSpPr/>
          <p:nvPr/>
        </p:nvSpPr>
        <p:spPr>
          <a:xfrm>
            <a:off x="762000" y="1498600"/>
            <a:ext cx="4953000" cy="266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1: 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快速落地
單台 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VPS + Docker Compose
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上線 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Dashboard / Backtest Viewer
TimescaleDB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Redis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Grafana 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自管
建立每日備份與還原演練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BD53A92-CB2F-4C32-A67D-2F413BDBD459}"/>
              </a:ext>
            </a:extLst>
          </p:cNvPr>
          <p:cNvSpPr/>
          <p:nvPr/>
        </p:nvSpPr>
        <p:spPr>
          <a:xfrm>
            <a:off x="6477000" y="1498600"/>
            <a:ext cx="4953000" cy="266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2: 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降低營運風險
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 Server + Managed DB/Redis
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長時間 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
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減少 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 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維運與資料遺失風險
保留 </a:t>
            </a:r>
            <a:r>
              <a:rPr lang="en-US" altLang="zh-TW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rollback </a:t>
            </a:r>
            <a:r>
              <a:rPr lang="zh-TW" altLang="en-US" sz="13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與監控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F00ABB-F697-499E-83F4-FAAACBBFCB7E}"/>
              </a:ext>
            </a:extLst>
          </p:cNvPr>
          <p:cNvSpPr txBox="1"/>
          <p:nvPr/>
        </p:nvSpPr>
        <p:spPr>
          <a:xfrm>
            <a:off x="914400" y="4775200"/>
            <a:ext cx="10363200" cy="62581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主管需要核准：預算上限、部署區域、是否使用 </a:t>
            </a:r>
            <a:r>
              <a:rPr lang="en-US" altLang="zh-TW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managed DB/Redis</a:t>
            </a:r>
            <a:r>
              <a:rPr lang="zh-TW" altLang="en-US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、此環境定位為 </a:t>
            </a:r>
            <a:r>
              <a:rPr lang="en-US" altLang="zh-TW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 </a:t>
            </a:r>
            <a:r>
              <a:rPr lang="zh-TW" altLang="en-US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而非 </a:t>
            </a:r>
            <a:r>
              <a:rPr lang="en-US" altLang="zh-TW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trading</a:t>
            </a:r>
            <a:r>
              <a:rPr lang="zh-TW" altLang="en-US" sz="17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384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065510E-EA48-4880-B77E-016EBC21FB51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目前系統現況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7BA0A37-E2C6-4252-BF37-9C0276D124D2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專案已具備上雲基礎，但還不是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production-ready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部署。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C16C804-D8B0-4A57-9959-E8DF6AC271E6}"/>
              </a:ext>
            </a:extLst>
          </p:cNvPr>
          <p:cNvSpPr txBox="1"/>
          <p:nvPr/>
        </p:nvSpPr>
        <p:spPr>
          <a:xfrm>
            <a:off x="762000" y="1447800"/>
            <a:ext cx="5334000" cy="14875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FastAPI API server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backtest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config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data API
• 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靜態前端 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Dashboard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frontend/
• TimescaleDB/PostgreSQL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OHLCV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funding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artifact
• Redis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position snapshot 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crash recovery
• Docker Compose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：已包含 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Redis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Prometheus</a:t>
            </a:r>
            <a:r>
              <a:rPr lang="zh-TW" altLang="en-US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Grafana</a:t>
            </a:r>
            <a:endParaRPr lang="zh-TW" altLang="en-US" sz="1500">
              <a:solidFill>
                <a:srgbClr val="1F293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0B363D2-604F-4E6A-9CF7-1B36713869CD}"/>
              </a:ext>
            </a:extLst>
          </p:cNvPr>
          <p:cNvSpPr/>
          <p:nvPr/>
        </p:nvSpPr>
        <p:spPr>
          <a:xfrm>
            <a:off x="6883400" y="1549400"/>
            <a:ext cx="4191000" cy="241300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n-US" altLang="zh-TW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Production </a:t>
            </a:r>
            <a:r>
              <a:rPr lang="zh-TW" altLang="en-US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前缺口
</a:t>
            </a:r>
            <a:r>
              <a:rPr lang="en-US" altLang="zh-TW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API_KEY </a:t>
            </a:r>
            <a:r>
              <a:rPr lang="zh-TW" altLang="en-US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必填
服務角色需拆分
</a:t>
            </a:r>
            <a:r>
              <a:rPr lang="en-US" altLang="zh-TW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metrics </a:t>
            </a:r>
            <a:r>
              <a:rPr lang="zh-TW" altLang="en-US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啟動需確認
</a:t>
            </a:r>
            <a:r>
              <a:rPr lang="en-US" altLang="zh-TW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secret </a:t>
            </a:r>
            <a:r>
              <a:rPr lang="zh-TW" altLang="en-US" sz="1450" b="1">
                <a:solidFill>
                  <a:srgbClr val="92400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與備份流程需補強</a:t>
            </a:r>
          </a:p>
        </p:txBody>
      </p:sp>
    </p:spTree>
    <p:extLst>
      <p:ext uri="{BB962C8B-B14F-4D97-AF65-F5344CB8AC3E}">
        <p14:creationId xmlns:p14="http://schemas.microsoft.com/office/powerpoint/2010/main" val="304632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FBA85B4-A2E6-4318-AC2B-AFFE1FEE96D8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目標架構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759015-5EDE-4589-BC76-B2F643D5A84E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第一期追求落地速度，第二期追求資料可靠性與長跑穩定。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D4BD9A-CA11-4CBD-A26F-C77954DB9497}"/>
              </a:ext>
            </a:extLst>
          </p:cNvPr>
          <p:cNvSpPr/>
          <p:nvPr/>
        </p:nvSpPr>
        <p:spPr>
          <a:xfrm>
            <a:off x="762000" y="1397000"/>
            <a:ext cx="4953000" cy="31750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60A5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320">
                <a:solidFill>
                  <a:srgbClr val="1E3A8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第一期架構
</a:t>
            </a:r>
            <a:r>
              <a:rPr lang="en-US" altLang="zh-TW" sz="1320">
                <a:solidFill>
                  <a:srgbClr val="1E3A8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Cloud VM / VPS
TLS Reverse Proxy
FastAPI + Frontend
TimescaleDB + Redis
Prometheus + Grafana
Persistent volumes + daily backup</a:t>
            </a:r>
            <a:endParaRPr lang="zh-TW" altLang="en-US" sz="1320">
              <a:solidFill>
                <a:srgbClr val="1E3A8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7A4F773-327D-4D96-A79C-79FA00466C1C}"/>
              </a:ext>
            </a:extLst>
          </p:cNvPr>
          <p:cNvSpPr/>
          <p:nvPr/>
        </p:nvSpPr>
        <p:spPr>
          <a:xfrm>
            <a:off x="6477000" y="1397000"/>
            <a:ext cx="4953000" cy="31750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34D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320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第二期架構
</a:t>
            </a:r>
            <a:r>
              <a:rPr lang="en-US" altLang="zh-TW" sz="1320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 VM / Container Service
Managed PostgreSQL with TimescaleDB
Managed Redis / Valkey
Object storage for backups
Static outbound IP
Alerting and restore drill</a:t>
            </a:r>
            <a:endParaRPr lang="zh-TW" altLang="en-US" sz="1320">
              <a:solidFill>
                <a:srgbClr val="065F4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632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A5A47CC-F0BA-4EE9-B606-E994ABCDB550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方案比較與成本估算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9B0729-6EEF-433D-83D9-ABEAAA333FD9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方案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是長跑目標；方案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適合作為第一期快速落地。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EDBDFD3-56B9-4624-B1B5-A4E8CE33B5B2}"/>
              </a:ext>
            </a:extLst>
          </p:cNvPr>
          <p:cNvSpPr/>
          <p:nvPr/>
        </p:nvSpPr>
        <p:spPr>
          <a:xfrm>
            <a:off x="635000" y="1320800"/>
            <a:ext cx="10922000" cy="558800"/>
          </a:xfrm>
          <a:prstGeom prst="roundRect">
            <a:avLst/>
          </a:prstGeom>
          <a:solidFill>
            <a:srgbClr val="E2E8F0"/>
          </a:solidFill>
          <a:ln w="1587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r>
              <a:rPr lang="en-US" altLang="zh-TW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r>
              <a:rPr lang="zh-TW" altLang="en-US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方案        </a:t>
            </a:r>
            <a:r>
              <a:rPr lang="en-US" altLang="zh-TW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	</a:t>
            </a:r>
            <a:r>
              <a:rPr lang="zh-TW" altLang="en-US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月費 </a:t>
            </a:r>
            <a:r>
              <a:rPr lang="en-US" altLang="zh-TW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      </a:t>
            </a:r>
            <a:r>
              <a:rPr lang="zh-TW" altLang="en-US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月費 </a:t>
            </a:r>
            <a:r>
              <a:rPr lang="en-US" altLang="zh-TW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TWD       	</a:t>
            </a:r>
            <a:r>
              <a:rPr lang="zh-TW" altLang="en-US" sz="1400" b="1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適用情境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D60CCC-D750-4CC1-9627-F8559F824702}"/>
              </a:ext>
            </a:extLst>
          </p:cNvPr>
          <p:cNvSpPr txBox="1"/>
          <p:nvPr/>
        </p:nvSpPr>
        <p:spPr>
          <a:xfrm>
            <a:off x="914400" y="2159000"/>
            <a:ext cx="10414000" cy="111825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A. 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單台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VPS 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自管全部     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25-40	790-1,260		MVP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、內部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dashboard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、短期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
B. VPS + Managed DB/Redis 	60-100      	1,890-3,150     	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長時間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、資料可靠性
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C. AWS </a:t>
            </a:r>
            <a:r>
              <a:rPr lang="en-US" altLang="zh-TW" sz="1320" dirty="0" err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Lightsail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		55-90  	1,730-2,840     	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公司偏好 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AWS 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生態
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D. Render PaaS           		60-120      	1,890-3,780     	Web dashboard/</a:t>
            </a:r>
            <a:r>
              <a:rPr lang="en-US" altLang="zh-TW" sz="1320" dirty="0" err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backtest</a:t>
            </a:r>
            <a:r>
              <a:rPr lang="en-US" altLang="zh-TW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viewer
E. Kubernetes             		150+        	4,725+          	</a:t>
            </a:r>
            <a:r>
              <a:rPr lang="zh-TW" altLang="en-US" sz="1320" dirty="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多環境多團隊，目前過度設計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8DA84F-C155-47C8-8879-C079E362465A}"/>
              </a:ext>
            </a:extLst>
          </p:cNvPr>
          <p:cNvSpPr txBox="1"/>
          <p:nvPr/>
        </p:nvSpPr>
        <p:spPr>
          <a:xfrm>
            <a:off x="914400" y="5562600"/>
            <a:ext cx="10033000" cy="26417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估算不含稅、網域、工程人力、交易成本與額外資料傳輸費；</a:t>
            </a:r>
            <a:r>
              <a:rPr lang="en-US" altLang="zh-TW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TWD </a:t>
            </a:r>
            <a:r>
              <a:rPr lang="zh-TW" altLang="en-US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 </a:t>
            </a:r>
            <a:r>
              <a:rPr lang="en-US" altLang="zh-TW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USD </a:t>
            </a:r>
            <a:r>
              <a:rPr lang="zh-TW" altLang="en-US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約 </a:t>
            </a:r>
            <a:r>
              <a:rPr lang="en-US" altLang="zh-TW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31.5 </a:t>
            </a:r>
            <a:r>
              <a:rPr lang="zh-TW" altLang="en-US" sz="105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粗估。</a:t>
            </a:r>
          </a:p>
        </p:txBody>
      </p:sp>
    </p:spTree>
    <p:extLst>
      <p:ext uri="{BB962C8B-B14F-4D97-AF65-F5344CB8AC3E}">
        <p14:creationId xmlns:p14="http://schemas.microsoft.com/office/powerpoint/2010/main" val="224492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F320E09-4E30-4747-9F79-3C492873A2F6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推薦路線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E8199B4-465F-4491-B93B-FA0AA7C3205D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小步落地，避免一開始把預算和維運複雜度拉太高。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D3A6BFF-5723-4805-9678-A4E47B9E5EFF}"/>
              </a:ext>
            </a:extLst>
          </p:cNvPr>
          <p:cNvSpPr/>
          <p:nvPr/>
        </p:nvSpPr>
        <p:spPr>
          <a:xfrm>
            <a:off x="914400" y="1651000"/>
            <a:ext cx="3048000" cy="19050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 </a:t>
            </a:r>
            <a:r>
              <a:rPr lang="en-US" altLang="zh-TW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階段
</a:t>
            </a:r>
            <a:r>
              <a:rPr lang="en-US" altLang="zh-TW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VPS + Docker Compose
USD 25-40/</a:t>
            </a:r>
            <a:r>
              <a:rPr lang="zh-TW" altLang="en-US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
</a:t>
            </a:r>
            <a:r>
              <a:rPr lang="en-US" altLang="zh-TW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1-2 </a:t>
            </a:r>
            <a:r>
              <a:rPr lang="zh-TW" altLang="en-US" sz="1400" b="1">
                <a:solidFill>
                  <a:srgbClr val="1E40A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週交付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F800EFC-C2A4-4CB4-9438-7227BA07A019}"/>
              </a:ext>
            </a:extLst>
          </p:cNvPr>
          <p:cNvSpPr/>
          <p:nvPr/>
        </p:nvSpPr>
        <p:spPr>
          <a:xfrm>
            <a:off x="4572000" y="1651000"/>
            <a:ext cx="3048000" cy="19050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4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觀察期
</a:t>
            </a:r>
            <a:r>
              <a:rPr lang="en-US" altLang="zh-TW" sz="14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 / Shadow
</a:t>
            </a:r>
            <a:r>
              <a:rPr lang="zh-TW" altLang="en-US" sz="14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補監控與備份
收集 </a:t>
            </a:r>
            <a:r>
              <a:rPr lang="en-US" altLang="zh-TW" sz="1400" b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artifact</a:t>
            </a:r>
            <a:endParaRPr lang="zh-TW" altLang="en-US" sz="1400" b="1">
              <a:solidFill>
                <a:srgbClr val="33415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95B3FB-D9C3-4FB7-9449-62694506B3DB}"/>
              </a:ext>
            </a:extLst>
          </p:cNvPr>
          <p:cNvSpPr/>
          <p:nvPr/>
        </p:nvSpPr>
        <p:spPr>
          <a:xfrm>
            <a:off x="8229600" y="1651000"/>
            <a:ext cx="3048000" cy="19050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4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 </a:t>
            </a:r>
            <a:r>
              <a:rPr lang="en-US" altLang="zh-TW" sz="14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</a:t>
            </a:r>
            <a:r>
              <a:rPr lang="zh-TW" altLang="en-US" sz="14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階段
</a:t>
            </a:r>
            <a:r>
              <a:rPr lang="en-US" altLang="zh-TW" sz="14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Managed DB/Redis
USD 60-100/</a:t>
            </a:r>
            <a:r>
              <a:rPr lang="zh-TW" altLang="en-US" sz="1400" b="1">
                <a:solidFill>
                  <a:srgbClr val="1665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
降低資料風險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2DA3A4-EE26-40DA-816E-D08FE0486DD7}"/>
              </a:ext>
            </a:extLst>
          </p:cNvPr>
          <p:cNvSpPr txBox="1"/>
          <p:nvPr/>
        </p:nvSpPr>
        <p:spPr>
          <a:xfrm>
            <a:off x="914400" y="4521200"/>
            <a:ext cx="10160000" cy="62581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推薦採用「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起步、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收斂」：先用低成本 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VPS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驗證部署流程，當 </a:t>
            </a:r>
            <a:r>
              <a:rPr lang="en-US" altLang="zh-TW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 </a:t>
            </a:r>
            <a:r>
              <a:rPr lang="zh-TW" altLang="en-US" sz="170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需要長時間穩定運行時，再將資料層升級成代管服務。</a:t>
            </a:r>
          </a:p>
        </p:txBody>
      </p:sp>
    </p:spTree>
    <p:extLst>
      <p:ext uri="{BB962C8B-B14F-4D97-AF65-F5344CB8AC3E}">
        <p14:creationId xmlns:p14="http://schemas.microsoft.com/office/powerpoint/2010/main" val="284427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6952201-2D8E-4650-976A-7ACDF0F05690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實施時程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C16443-36D3-4DEB-B5BA-032835EB343F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一次性工程時間約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5-10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個工作天，長跑觀察依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trading gate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另計。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C041B9-13E5-450D-9D74-FC8C4DAACFAB}"/>
              </a:ext>
            </a:extLst>
          </p:cNvPr>
          <p:cNvSpPr txBox="1"/>
          <p:nvPr/>
        </p:nvSpPr>
        <p:spPr>
          <a:xfrm>
            <a:off x="762000" y="1447800"/>
            <a:ext cx="10668000" cy="142295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0.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部署前檢查：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config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secret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 auth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OKX key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權限、部署區域
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1. Web/Dashboard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上線：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HTTPS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FastAPI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Backtest Viewer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、基本存取控制
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2. DB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artifact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生產化：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migration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artifact storage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、每日備份、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restore drill
• 3. Demo/Shadow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服務拆分：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engine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ingestor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monitoring profile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分離
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4.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監控與告警：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Prometheus/Grafana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Telegram alert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healthcheck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log retention
• 5.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長跑觀察：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 4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週、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Shadow 2 </a:t>
            </a:r>
            <a:r>
              <a:rPr lang="zh-TW" altLang="en-US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週、策略與 </a:t>
            </a:r>
            <a:r>
              <a:rPr lang="en-US" altLang="zh-TW" sz="143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execution quality review</a:t>
            </a:r>
            <a:endParaRPr lang="zh-TW" altLang="en-US" sz="1430">
              <a:solidFill>
                <a:srgbClr val="1F293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7491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1DB9837-7116-4CA2-B68B-1E242060A5BD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安全與風控要求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FB2E3C0-F7EF-43B5-99A1-33EBC7F1020D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部署安全與交易風控要分開治理，避免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化後放大誤操作風險。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AECF72-3370-47F5-8B71-780AAFB78B3F}"/>
              </a:ext>
            </a:extLst>
          </p:cNvPr>
          <p:cNvSpPr txBox="1"/>
          <p:nvPr/>
        </p:nvSpPr>
        <p:spPr>
          <a:xfrm>
            <a:off x="762000" y="1422400"/>
            <a:ext cx="5461000" cy="14598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API_KEY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必填，避免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 auth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被關閉
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OKX API key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禁用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withdraw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，並綁定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static IP
• .env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不進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、不進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
• DB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Redis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Grafana admin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不直接公開
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 backup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，保留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7-30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
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至少完成一次 </a:t>
            </a:r>
            <a:r>
              <a:rPr lang="en-US" altLang="zh-TW" sz="147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restore drill</a:t>
            </a:r>
            <a:endParaRPr lang="zh-TW" altLang="en-US" sz="1470">
              <a:solidFill>
                <a:srgbClr val="1F293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B0BAA8E-96D0-48E8-8547-6F2B41A73FB1}"/>
              </a:ext>
            </a:extLst>
          </p:cNvPr>
          <p:cNvSpPr/>
          <p:nvPr/>
        </p:nvSpPr>
        <p:spPr>
          <a:xfrm>
            <a:off x="7112000" y="1803400"/>
            <a:ext cx="4038600" cy="248920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風控底線
</a:t>
            </a:r>
            <a:r>
              <a:rPr lang="en-US" altLang="zh-TW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 UI </a:t>
            </a:r>
            <a:r>
              <a:rPr lang="zh-TW" altLang="en-US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不提供一鍵 </a:t>
            </a:r>
            <a:r>
              <a:rPr lang="en-US" altLang="zh-TW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
Live </a:t>
            </a:r>
            <a:r>
              <a:rPr lang="zh-TW" altLang="en-US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入口保留人工確認
所有 </a:t>
            </a:r>
            <a:r>
              <a:rPr lang="en-US" altLang="zh-TW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gates </a:t>
            </a:r>
            <a:r>
              <a:rPr lang="zh-TW" altLang="en-US" sz="1500" b="1">
                <a:solidFill>
                  <a:srgbClr val="991B1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未過前不視為正式交易系統</a:t>
            </a:r>
          </a:p>
        </p:txBody>
      </p:sp>
    </p:spTree>
    <p:extLst>
      <p:ext uri="{BB962C8B-B14F-4D97-AF65-F5344CB8AC3E}">
        <p14:creationId xmlns:p14="http://schemas.microsoft.com/office/powerpoint/2010/main" val="20253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26226A1-07FD-431A-8E69-73D2ACFE426A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主要風險與緩解方式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38AF82-D3C8-4FCF-B03C-8FBE5AE40762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先把可恢復性、安全性與可觀測性做出來，再討論更高風險階段。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750BEE4-E4A0-46B7-93B9-276B200F7EA1}"/>
              </a:ext>
            </a:extLst>
          </p:cNvPr>
          <p:cNvSpPr/>
          <p:nvPr/>
        </p:nvSpPr>
        <p:spPr>
          <a:xfrm>
            <a:off x="762000" y="1524000"/>
            <a:ext cx="4953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主要風險
</a:t>
            </a:r>
            <a:r>
              <a:rPr lang="en-US" altLang="zh-TW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 </a:t>
            </a:r>
            <a:r>
              <a:rPr lang="zh-TW" altLang="en-US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資料遺失
</a:t>
            </a:r>
            <a:r>
              <a:rPr lang="en-US" altLang="zh-TW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 key </a:t>
            </a:r>
            <a:r>
              <a:rPr lang="zh-TW" altLang="en-US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外洩
長時間運行中斷
成本失控
誤啟 </a:t>
            </a:r>
            <a:r>
              <a:rPr lang="en-US" altLang="zh-TW" sz="147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trading</a:t>
            </a:r>
            <a:endParaRPr lang="zh-TW" altLang="en-US" sz="1470" b="1">
              <a:solidFill>
                <a:srgbClr val="1F293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7E6CF4D-358A-443B-AB33-1D7C724BB16A}"/>
              </a:ext>
            </a:extLst>
          </p:cNvPr>
          <p:cNvSpPr/>
          <p:nvPr/>
        </p:nvSpPr>
        <p:spPr>
          <a:xfrm>
            <a:off x="6477000" y="1524000"/>
            <a:ext cx="4953000" cy="29210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34D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zh-TW" altLang="en-US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緩解方式
每日備份 </a:t>
            </a:r>
            <a:r>
              <a:rPr lang="en-US" altLang="zh-TW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offsite copy
</a:t>
            </a:r>
            <a:r>
              <a:rPr lang="zh-TW" altLang="en-US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最小權限 </a:t>
            </a:r>
            <a:r>
              <a:rPr lang="en-US" altLang="zh-TW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static IP
healthcheck + Telegram alert
billing alert + </a:t>
            </a:r>
            <a:r>
              <a:rPr lang="zh-TW" altLang="en-US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分階段升級
</a:t>
            </a:r>
            <a:r>
              <a:rPr lang="en-US" altLang="zh-TW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config gate + </a:t>
            </a:r>
            <a:r>
              <a:rPr lang="zh-TW" altLang="en-US" sz="1470" b="1">
                <a:solidFill>
                  <a:srgbClr val="065F4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人工確認</a:t>
            </a:r>
          </a:p>
        </p:txBody>
      </p:sp>
    </p:spTree>
    <p:extLst>
      <p:ext uri="{BB962C8B-B14F-4D97-AF65-F5344CB8AC3E}">
        <p14:creationId xmlns:p14="http://schemas.microsoft.com/office/powerpoint/2010/main" val="76305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C0DD598-61F9-4A01-A526-916FC3AFE761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驗收標準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92C6D3-240F-49FF-819C-77381A2DACEC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第一期驗收部署能力；第二期驗收長跑穩定與交易風控流程。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D47A272-0CF8-47E2-9EB5-C655C2D116E9}"/>
              </a:ext>
            </a:extLst>
          </p:cNvPr>
          <p:cNvSpPr txBox="1"/>
          <p:nvPr/>
        </p:nvSpPr>
        <p:spPr>
          <a:xfrm>
            <a:off x="762000" y="1397000"/>
            <a:ext cx="5080000" cy="15245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第一期驗收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HTTPS Dashboard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可用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Backtest / config / data API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可用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TimescaleDB migration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成功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Artifact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可寫入與讀取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Grafana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可看基礎狀態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DB backup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restore drill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5E753D-BF7C-45A6-BC90-6C5967258753}"/>
              </a:ext>
            </a:extLst>
          </p:cNvPr>
          <p:cNvSpPr txBox="1"/>
          <p:nvPr/>
        </p:nvSpPr>
        <p:spPr>
          <a:xfrm>
            <a:off x="6604000" y="1397000"/>
            <a:ext cx="5080000" cy="15245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第二期驗收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Demo engine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連續運行 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Shadow engine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連續運行 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Telegram alert / kill switch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可用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重啟後核心狀態可恢復
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Claude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完成風險 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review
• </a:t>
            </a:r>
            <a:r>
              <a:rPr lang="zh-TW" altLang="en-US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主管核准後才進 </a:t>
            </a:r>
            <a:r>
              <a:rPr lang="en-US" altLang="zh-TW" sz="1320" b="1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half-size live planning</a:t>
            </a:r>
            <a:endParaRPr lang="zh-TW" altLang="en-US" sz="1320" b="1">
              <a:solidFill>
                <a:srgbClr val="1F2937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963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1399AB-85A0-4E6E-9072-FF90C0948D1E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需要主管核准事項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349F0B4-6D87-4D67-B6AA-B44029D952D6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這頁可作為會議最後的決策清單。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55358F-D450-4A0D-BE0D-A9395916178D}"/>
              </a:ext>
            </a:extLst>
          </p:cNvPr>
          <p:cNvSpPr txBox="1"/>
          <p:nvPr/>
        </p:nvSpPr>
        <p:spPr>
          <a:xfrm>
            <a:off x="914400" y="1422400"/>
            <a:ext cx="10414000" cy="15337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1.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是否核准第一階段採用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VPS + Docker Compose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
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2.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第一階段月預算是否設定為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40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以內。
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3.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第二階段月預算是否設定為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100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以內。
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4.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部署區域是否採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Singapore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Tokyo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
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5.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是否需要公司網域與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VPN / Zero Trust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存取。
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6. 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是否確認本環境定位為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demo/shadow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，而非 </a:t>
            </a:r>
            <a:r>
              <a:rPr lang="en-US" altLang="zh-TW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live trading production</a:t>
            </a:r>
            <a:r>
              <a:rPr lang="zh-TW" altLang="en-US" sz="1550">
                <a:solidFill>
                  <a:srgbClr val="1F293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18899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B16C5F0-8014-4615-B319-A6A10BB82B7D}"/>
              </a:ext>
            </a:extLst>
          </p:cNvPr>
          <p:cNvSpPr txBox="1"/>
          <p:nvPr/>
        </p:nvSpPr>
        <p:spPr>
          <a:xfrm>
            <a:off x="457200" y="304800"/>
            <a:ext cx="11277600" cy="4873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25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參考來源與備註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D319B9-E697-4804-BC4B-70779A78F58E}"/>
              </a:ext>
            </a:extLst>
          </p:cNvPr>
          <p:cNvSpPr txBox="1"/>
          <p:nvPr/>
        </p:nvSpPr>
        <p:spPr>
          <a:xfrm>
            <a:off x="533400" y="914400"/>
            <a:ext cx="104140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成本為 </a:t>
            </a:r>
            <a:r>
              <a:rPr lang="en-US" altLang="zh-TW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2026-05 </a:t>
            </a:r>
            <a:r>
              <a:rPr lang="zh-TW" altLang="en-US" sz="12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公開價格估算，實際帳單依地區、稅金、備份與流量調整。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103421-5D55-4A65-AD95-DB2CE86BA430}"/>
              </a:ext>
            </a:extLst>
          </p:cNvPr>
          <p:cNvSpPr txBox="1"/>
          <p:nvPr/>
        </p:nvSpPr>
        <p:spPr>
          <a:xfrm>
            <a:off x="762000" y="1397000"/>
            <a:ext cx="10668000" cy="130907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TW" sz="1120" dirty="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en-US" altLang="zh-TW" sz="1120" dirty="0" err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DigitalOcean</a:t>
            </a:r>
            <a:r>
              <a:rPr lang="en-US" altLang="zh-TW" sz="1120" dirty="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Droplets: https://www.digitalocean.com/pricing/droplets
• </a:t>
            </a:r>
            <a:r>
              <a:rPr lang="en-US" altLang="zh-TW" sz="1120" dirty="0" err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DigitalOcean</a:t>
            </a:r>
            <a:r>
              <a:rPr lang="en-US" altLang="zh-TW" sz="1120" dirty="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Managed Databases: https://www.digitalocean.com/pricing/managed-databases
• </a:t>
            </a:r>
            <a:r>
              <a:rPr lang="en-US" altLang="zh-TW" sz="1120" dirty="0" err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DigitalOcean</a:t>
            </a:r>
            <a:r>
              <a:rPr lang="en-US" altLang="zh-TW" sz="1120" dirty="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PostgreSQL extensions: https://docs.digitalocean.com/products/databases/postgresql/details/supported-extensions/
• AWS </a:t>
            </a:r>
            <a:r>
              <a:rPr lang="en-US" altLang="zh-TW" sz="1120" dirty="0" err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Lightsail</a:t>
            </a:r>
            <a:r>
              <a:rPr lang="en-US" altLang="zh-TW" sz="112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https://aws.amazon.com/lightsail/pricing/
• Render pricing: https://render.com/pricing
• Render PostgreSQL extensions: https://render.com/docs/postgresql-extensions
• Internal references: docker/docker-</a:t>
            </a:r>
            <a:r>
              <a:rPr lang="en-US" altLang="zh-TW" sz="1120" dirty="0" err="1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compose.yml</a:t>
            </a:r>
            <a:r>
              <a:rPr lang="en-US" altLang="zh-TW" sz="1120" dirty="0">
                <a:solidFill>
                  <a:srgbClr val="33415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docs/ai_collaboration.md, docs/ARCHITECTURE.md</a:t>
            </a:r>
            <a:endParaRPr lang="zh-TW" altLang="en-US" sz="1120" dirty="0">
              <a:solidFill>
                <a:srgbClr val="33415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311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1359</Words>
  <Application>Microsoft Office PowerPoint</Application>
  <PresentationFormat>寬螢幕</PresentationFormat>
  <Paragraphs>50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Maxwell Friedman</dc:creator>
  <cp:lastModifiedBy>Maxwell Friedman</cp:lastModifiedBy>
  <cp:revision>4</cp:revision>
  <dcterms:created xsi:type="dcterms:W3CDTF">2026-05-19T03:55:18Z</dcterms:created>
  <dcterms:modified xsi:type="dcterms:W3CDTF">2026-05-19T04:26:24Z</dcterms:modified>
</cp:coreProperties>
</file>